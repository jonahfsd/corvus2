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f64d5dc80842b0" /><Relationship Type="http://schemas.openxmlformats.org/officeDocument/2006/relationships/extended-properties" Target="/docProps/app.xml" Id="R74a4e2b69d304cb3" /><Relationship Type="http://schemas.openxmlformats.org/officeDocument/2006/relationships/officeDocument" Target="/ppt/presentation.xml" Id="Rc4c54a27dbba41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5f7d2485694b5b"/>
  </p:sldMasterIdLst>
  <p:notesMasterIdLst>
    <p:notesMasterId xmlns:r="http://schemas.openxmlformats.org/officeDocument/2006/relationships" r:id="Rbae3543f8b95429f"/>
  </p:notesMasterIdLst>
  <p:sldIdLst>
    <p:sldId xmlns:r="http://schemas.openxmlformats.org/officeDocument/2006/relationships" id="256" r:id="R6052d7b11e854d9e"/>
    <p:sldId xmlns:r="http://schemas.openxmlformats.org/officeDocument/2006/relationships" id="257" r:id="Rf5f86efbf503487c"/>
    <p:sldId xmlns:r="http://schemas.openxmlformats.org/officeDocument/2006/relationships" id="258" r:id="R7dc98edcc45249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29812fc6364f49" /><Relationship Type="http://schemas.openxmlformats.org/officeDocument/2006/relationships/slideMaster" Target="/ppt/slideMasters/slideMaster1.xml" Id="R835f7d2485694b5b" /><Relationship Type="http://schemas.openxmlformats.org/officeDocument/2006/relationships/notesMaster" Target="/ppt/notesMasters/notesMaster1.xml" Id="Rbae3543f8b95429f" /><Relationship Type="http://schemas.openxmlformats.org/officeDocument/2006/relationships/presProps" Target="/ppt/presProps.xml" Id="Rceb103bc58c74da4" /><Relationship Type="http://schemas.openxmlformats.org/officeDocument/2006/relationships/tableStyles" Target="/ppt/tableStyles.xml" Id="R13c30210d32c4f32" /><Relationship Type="http://schemas.openxmlformats.org/officeDocument/2006/relationships/slide" Target="/ppt/slides/slide1.xml" Id="R6052d7b11e854d9e" /><Relationship Type="http://schemas.openxmlformats.org/officeDocument/2006/relationships/slide" Target="/ppt/slides/slide2.xml" Id="Rf5f86efbf503487c" /><Relationship Type="http://schemas.openxmlformats.org/officeDocument/2006/relationships/slide" Target="/ppt/slides/slide3.xml" Id="R7dc98edcc45249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519a4a9d6848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7f90a1a6f9494f" /><Relationship Type="http://schemas.openxmlformats.org/officeDocument/2006/relationships/notesMaster" Target="/ppt/notesMasters/notesMaster1.xml" Id="R2ec8104be9b34c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d3a759d23a46f0" /><Relationship Type="http://schemas.openxmlformats.org/officeDocument/2006/relationships/notesMaster" Target="/ppt/notesMasters/notesMaster1.xml" Id="R61c4d929a2b349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13941c8c1e4c42" /><Relationship Type="http://schemas.openxmlformats.org/officeDocument/2006/relationships/notesMaster" Target="/ppt/notesMasters/notesMaster1.xml" Id="R865c5d76f0aa45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inversion: personalized behavioral prediction is already economically valuable, but its dominant objective is commercial conversion. Osanwe asks whether a participant-owned system can optimize a participant-defined real-world outcome instead.</a:t>
            </a:r>
          </a:p>
          <a:p xmlns:a="http://schemas.openxmlformats.org/drawingml/2006/main">
            <a:r>
              <a:t>Do not imply omniscience or certainty. The evidence supports action-propensity prediction and incremental conversion lift, not mind-reading.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Meta, ‘How Facebook ads use machine learning’: https://www.facebook.com/help/447278887528796</a:t>
            </a:r>
          </a:p>
          <a:p xmlns:a="http://schemas.openxmlformats.org/drawingml/2006/main">
            <a:r>
              <a:t>- Meta Engineering, ‘Sequence learning: A paradigm shift for personalized ads recommendations’ (2024): https://engineering.fb.com/2024/11/19/data-infrastructure/sequence-learning-personalized-ads-recommendations/</a:t>
            </a:r>
          </a:p>
          <a:p xmlns:a="http://schemas.openxmlformats.org/drawingml/2006/main">
            <a:r>
              <a:t>- Internal source: docs/pitch/technical-collaborator-pitch-v0.1.md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LLM has three bounded jobs: extract structured, provenance-linked evidence; render a model-selected question; and explain structured output. It does not independently estimate latent state or choose interventions.</a:t>
            </a:r>
          </a:p>
          <a:p xmlns:a="http://schemas.openxmlformats.org/drawingml/2006/main">
            <a:r>
              <a:t>Every meaningful inference remains uncertain, versioned, visible, and correctable by the participant.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architecture: docs/specs/personalized-social-flourishing-model-v0.1.md</a:t>
            </a:r>
          </a:p>
          <a:p xmlns:a="http://schemas.openxmlformats.org/drawingml/2006/main">
            <a:r>
              <a:t>- Accepted boundary: docs/decisions/0001-probabilistic-core-and-llm-boundary.md</a:t>
            </a:r>
          </a:p>
          <a:p xmlns:a="http://schemas.openxmlformats.org/drawingml/2006/main">
            <a:r>
              <a:t>- Model-criticism rationale: docs/research/foundational-modeling-and-criticism.md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sequencing is the scientific moat: first prove that observations and constructs are usable; then issue immutable prospective forecasts; only then randomize low-risk actions and estimate proximal causal effects.</a:t>
            </a:r>
          </a:p>
          <a:p xmlns:a="http://schemas.openxmlformats.org/drawingml/2006/main">
            <a:r>
              <a:t>A 10–20 person alpha is for data contracts, burden, extraction, and observability—not efficacy.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Dawid, ‘Statistical theory: The prequential approach’ (1984): https://doi.org/10.2307/2981683</a:t>
            </a:r>
          </a:p>
          <a:p xmlns:a="http://schemas.openxmlformats.org/drawingml/2006/main">
            <a:r>
              <a:t>- Gneiting &amp; Raftery, ‘Strictly proper scoring rules, prediction, and estimation’ (2007): https://doi.org/10.1198/016214506000001437</a:t>
            </a:r>
          </a:p>
          <a:p xmlns:a="http://schemas.openxmlformats.org/drawingml/2006/main">
            <a:r>
              <a:t>- Klasnja et al., ‘Microrandomized trials’ (2015): https://pmc.ncbi.nlm.nih.gov/articles/PMC4732571/</a:t>
            </a:r>
          </a:p>
          <a:p xmlns:a="http://schemas.openxmlformats.org/drawingml/2006/main">
            <a:r>
              <a:t>- Internal sources: docs/pitch/technical-collaborator-pitch-v0.1.md and docs/research/personalized-longitudinal-state-estimation.md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679e97e38c46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3b57ed25434995" /><Relationship Type="http://schemas.openxmlformats.org/officeDocument/2006/relationships/slideLayout" Target="/ppt/slideLayouts/slideLayout1.xml" Id="R9e710251fc3f45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710251fc3f45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40de600494f56" /><Relationship Type="http://schemas.openxmlformats.org/officeDocument/2006/relationships/notesSlide" Target="/ppt/notesSlides/notesSlide1.xml" Id="Rfe554444711a45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c094b3cb84588" /><Relationship Type="http://schemas.openxmlformats.org/officeDocument/2006/relationships/notesSlide" Target="/ppt/notesSlides/notesSlide2.xml" Id="Rfebe91e2bd6740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386a55c814e16" /><Relationship Type="http://schemas.openxmlformats.org/officeDocument/2006/relationships/notesSlide" Target="/ppt/notesSlides/notesSlide3.xml" Id="R8288a04d888247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articipant-objective-accent">
            <a:extLst xmlns:a="http://schemas.openxmlformats.org/drawingml/2006/main">
              <a:ext uri="{FF2B5EF4-FFF2-40B4-BE49-F238E27FC236}">
                <a16:creationId xmlns:a16="http://schemas.microsoft.com/office/drawing/2014/main" id="{A7203DD8-C6D9-4BAE-BA7D-18A33F2C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86525"/>
            <a:ext cx="11404664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F3CBABB-771A-4422-B8DD-FC5927FE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OSANWE</a:t>
            </a:r>
          </a:p>
        </p:txBody>
      </p:sp>
      <p:sp>
        <p:nvSpPr>
          <p:cNvPr id="3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8A51348D-A945-4912-B7FC-8CEDA4BB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50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TECHNICAL COLLABORATOR PITCH</a:t>
            </a:r>
          </a:p>
        </p:txBody>
      </p:sp>
      <p:sp>
        <p:nvSpPr>
          <p:cNvPr id="4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7DA3487B-E56E-45D7-8A24-B8752C94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8350"/>
            <a:ext cx="1066800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Your behavior is already being modeled.
</a:t>
            </a:r>
            <a:r>
              <a:rPr sz="57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objective just isn't </a:t>
            </a:r>
            <a:r>
              <a:rPr sz="57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your flourishing.</a:t>
            </a:r>
          </a:p>
        </p:txBody>
      </p:sp>
    </p:spTree>
    <p:extLst>
      <p:ext uri="{BB962C8B-B14F-4D97-AF65-F5344CB8AC3E}">
        <p14:creationId xmlns:p14="http://schemas.microsoft.com/office/powerpoint/2010/main" val="390961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D63D9D3A-B7D1-4BAE-B222-4DB0D398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chatbot is only the instrument panel</a:t>
            </a:r>
          </a:p>
        </p:txBody>
      </p:sp>
      <p:cxnSp>
        <p:nvCxnSpPr>
          <p:cNvPr id="12" name="Architecture-rule"/>
          <p:cNvCxnSpPr/>
          <p:nvPr/>
        </p:nvCxnSpPr>
        <p:spPr>
          <a:xfrm xmlns:a="http://schemas.openxmlformats.org/drawingml/2006/main">
            <a:off x="393668" y="25908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Architecture-boundary">
            <a:extLst xmlns:a="http://schemas.openxmlformats.org/drawingml/2006/main">
              <a:ext uri="{FF2B5EF4-FFF2-40B4-BE49-F238E27FC236}">
                <a16:creationId xmlns:a16="http://schemas.microsoft.com/office/drawing/2014/main" id="{DDB99089-2F79-4633-896E-2082176F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81175"/>
            <a:ext cx="8382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LLM LANGUAGE LAYER</a:t>
            </a:r>
            <a:r>
              <a:rPr sz="23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   ≠   </a:t>
            </a:r>
            <a:r>
              <a: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 ESTIMATION</a:t>
            </a:r>
          </a:p>
        </p:txBody>
      </p:sp>
      <p:sp>
        <p:nvSpPr>
          <p:cNvPr id="4" name="Architecture-stage-number-1">
            <a:extLst xmlns:a="http://schemas.openxmlformats.org/drawingml/2006/main">
              <a:ext uri="{FF2B5EF4-FFF2-40B4-BE49-F238E27FC236}">
                <a16:creationId xmlns:a16="http://schemas.microsoft.com/office/drawing/2014/main" id="{F2CE5687-7659-4AD1-8128-D8F732F4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43225"/>
            <a:ext cx="1066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Architecture-stage-body-1">
            <a:extLst xmlns:a="http://schemas.openxmlformats.org/drawingml/2006/main">
              <a:ext uri="{FF2B5EF4-FFF2-40B4-BE49-F238E27FC236}">
                <a16:creationId xmlns:a16="http://schemas.microsoft.com/office/drawing/2014/main" id="{059D1F50-67C7-41DA-90C5-A6924440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95725"/>
            <a:ext cx="3568732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1143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
</a:t>
            </a:r>
            <a:r>
              <a:rPr sz="165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Consented check-ins, relationship events, context, optional wearables, and correctable narrative evidence.</a:t>
            </a:r>
          </a:p>
        </p:txBody>
      </p:sp>
      <p:sp>
        <p:nvSpPr>
          <p:cNvPr id="6" name="Architecture-stage-number-2">
            <a:extLst xmlns:a="http://schemas.openxmlformats.org/drawingml/2006/main">
              <a:ext uri="{FF2B5EF4-FFF2-40B4-BE49-F238E27FC236}">
                <a16:creationId xmlns:a16="http://schemas.microsoft.com/office/drawing/2014/main" id="{8E733BBE-AAB0-4FB6-BC6D-92FEAF9E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2943225"/>
            <a:ext cx="1066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36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Architecture-stage-body-2">
            <a:extLst xmlns:a="http://schemas.openxmlformats.org/drawingml/2006/main">
              <a:ext uri="{FF2B5EF4-FFF2-40B4-BE49-F238E27FC236}">
                <a16:creationId xmlns:a16="http://schemas.microsoft.com/office/drawing/2014/main" id="{7620099A-A6EE-4FF6-B868-BA0C7496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3895725"/>
            <a:ext cx="3568732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1143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INFER
</a:t>
            </a:r>
            <a:r>
              <a:rPr sz="165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A temporal relationship graph and hierarchical Bayesian state-space model maintain calibrated uncertainty.</a:t>
            </a:r>
          </a:p>
        </p:txBody>
      </p:sp>
      <p:sp>
        <p:nvSpPr>
          <p:cNvPr id="8" name="Architecture-stage-number-3">
            <a:extLst xmlns:a="http://schemas.openxmlformats.org/drawingml/2006/main">
              <a:ext uri="{FF2B5EF4-FFF2-40B4-BE49-F238E27FC236}">
                <a16:creationId xmlns:a16="http://schemas.microsoft.com/office/drawing/2014/main" id="{3764A2B3-B0F9-4A34-9728-B3EDD4C7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2943225"/>
            <a:ext cx="1066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Architecture-stage-body-3">
            <a:extLst xmlns:a="http://schemas.openxmlformats.org/drawingml/2006/main">
              <a:ext uri="{FF2B5EF4-FFF2-40B4-BE49-F238E27FC236}">
                <a16:creationId xmlns:a16="http://schemas.microsoft.com/office/drawing/2014/main" id="{4D8AC665-F75A-4B0D-81C9-237262E3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895725"/>
            <a:ext cx="3568732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1143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ASK / ACT
</a:t>
            </a:r>
            <a:r>
              <a:rPr sz="165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The model selects an information need—or later, a safe approved action. The LLM only translates it.</a:t>
            </a:r>
          </a:p>
        </p:txBody>
      </p:sp>
      <p:sp>
        <p:nvSpPr>
          <p:cNvPr id="10" name="Architecture-page-number">
            <a:extLst xmlns:a="http://schemas.openxmlformats.org/drawingml/2006/main">
              <a:ext uri="{FF2B5EF4-FFF2-40B4-BE49-F238E27FC236}">
                <a16:creationId xmlns:a16="http://schemas.microsoft.com/office/drawing/2014/main" id="{405EE1C6-6AA9-44B4-99C8-DEE5D69E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86645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alidation-title">
            <a:extLst xmlns:a="http://schemas.openxmlformats.org/drawingml/2006/main">
              <a:ext uri="{FF2B5EF4-FFF2-40B4-BE49-F238E27FC236}">
                <a16:creationId xmlns:a16="http://schemas.microsoft.com/office/drawing/2014/main" id="{7F1FCBA0-69C9-4734-81C8-EAE52476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research program designed to fail honestly</a:t>
            </a:r>
          </a:p>
        </p:txBody>
      </p:sp>
      <p:cxnSp>
        <p:nvCxnSpPr>
          <p:cNvPr id="16" name="Validation-timeline"/>
          <p:cNvCxnSpPr/>
          <p:nvPr/>
        </p:nvCxnSpPr>
        <p:spPr>
          <a:xfrm xmlns:a="http://schemas.openxmlformats.org/drawingml/2006/main">
            <a:off x="337757" y="2962275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Validation-milestone-1">
            <a:extLst xmlns:a="http://schemas.openxmlformats.org/drawingml/2006/main">
              <a:ext uri="{FF2B5EF4-FFF2-40B4-BE49-F238E27FC236}">
                <a16:creationId xmlns:a16="http://schemas.microsoft.com/office/drawing/2014/main" id="{F7BCC46B-8699-4099-ACC8-633FDE4C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290322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alidation-milestone-2">
            <a:extLst xmlns:a="http://schemas.openxmlformats.org/drawingml/2006/main">
              <a:ext uri="{FF2B5EF4-FFF2-40B4-BE49-F238E27FC236}">
                <a16:creationId xmlns:a16="http://schemas.microsoft.com/office/drawing/2014/main" id="{F1C9BD2A-7F7A-4E5F-A963-CC4A424F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290322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alidation-milestone-3">
            <a:extLst xmlns:a="http://schemas.openxmlformats.org/drawingml/2006/main">
              <a:ext uri="{FF2B5EF4-FFF2-40B4-BE49-F238E27FC236}">
                <a16:creationId xmlns:a16="http://schemas.microsoft.com/office/drawing/2014/main" id="{7762E463-06F5-4105-89EE-23B91ABC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290322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Validation-label-1">
            <a:extLst xmlns:a="http://schemas.openxmlformats.org/drawingml/2006/main">
              <a:ext uri="{FF2B5EF4-FFF2-40B4-BE49-F238E27FC236}">
                <a16:creationId xmlns:a16="http://schemas.microsoft.com/office/drawing/2014/main" id="{1D66D24E-5E43-4FC8-B54B-9FA1BEB0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81250"/>
            <a:ext cx="1612868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50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GATE 1</a:t>
            </a:r>
          </a:p>
        </p:txBody>
      </p:sp>
      <p:sp>
        <p:nvSpPr>
          <p:cNvPr id="7" name="Validation-label-2">
            <a:extLst xmlns:a="http://schemas.openxmlformats.org/drawingml/2006/main">
              <a:ext uri="{FF2B5EF4-FFF2-40B4-BE49-F238E27FC236}">
                <a16:creationId xmlns:a16="http://schemas.microsoft.com/office/drawing/2014/main" id="{F4E430B1-4E8F-4350-BCDD-CB24E63A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381250"/>
            <a:ext cx="1612868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5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GATE 2</a:t>
            </a:r>
          </a:p>
        </p:txBody>
      </p:sp>
      <p:sp>
        <p:nvSpPr>
          <p:cNvPr id="8" name="Validation-label-3">
            <a:extLst xmlns:a="http://schemas.openxmlformats.org/drawingml/2006/main">
              <a:ext uri="{FF2B5EF4-FFF2-40B4-BE49-F238E27FC236}">
                <a16:creationId xmlns:a16="http://schemas.microsoft.com/office/drawing/2014/main" id="{0A9DA33B-21FF-4AB8-B6D4-6DA419DC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381250"/>
            <a:ext cx="1612868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50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GATE 3</a:t>
            </a:r>
          </a:p>
        </p:txBody>
      </p:sp>
      <p:sp>
        <p:nvSpPr>
          <p:cNvPr id="9" name="Validation-body-1">
            <a:extLst xmlns:a="http://schemas.openxmlformats.org/drawingml/2006/main">
              <a:ext uri="{FF2B5EF4-FFF2-40B4-BE49-F238E27FC236}">
                <a16:creationId xmlns:a16="http://schemas.microsoft.com/office/drawing/2014/main" id="{BFC918FF-0A08-4DB9-9B29-1612520A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352800"/>
            <a:ext cx="3156109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8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Measure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Calibrate correctable evidence and narrow constructs. Kill what cannot be measured.</a:t>
            </a:r>
          </a:p>
        </p:txBody>
      </p:sp>
      <p:sp>
        <p:nvSpPr>
          <p:cNvPr id="10" name="Validation-body-2">
            <a:extLst xmlns:a="http://schemas.openxmlformats.org/drawingml/2006/main">
              <a:ext uri="{FF2B5EF4-FFF2-40B4-BE49-F238E27FC236}">
                <a16:creationId xmlns:a16="http://schemas.microsoft.com/office/drawing/2014/main" id="{18EDE07C-D2A0-47AF-A568-4DBC7B4A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352800"/>
            <a:ext cx="3156109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8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Forecast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Freeze 1-, 7-, and 14-day predictions. Beat moving-average and LLM-only baselines.</a:t>
            </a:r>
          </a:p>
        </p:txBody>
      </p:sp>
      <p:sp>
        <p:nvSpPr>
          <p:cNvPr id="11" name="Validation-body-3">
            <a:extLst xmlns:a="http://schemas.openxmlformats.org/drawingml/2006/main">
              <a:ext uri="{FF2B5EF4-FFF2-40B4-BE49-F238E27FC236}">
                <a16:creationId xmlns:a16="http://schemas.microsoft.com/office/drawing/2014/main" id="{F3E82F11-4F25-4E50-B62B-9D6C2060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352800"/>
            <a:ext cx="3156109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8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Intervene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Only after the forecast gate: micro-randomize safe, participant-approved actions.</a:t>
            </a:r>
          </a:p>
        </p:txBody>
      </p:sp>
      <p:sp>
        <p:nvSpPr>
          <p:cNvPr id="12" name="Collaborator-ask-rule">
            <a:extLst xmlns:a="http://schemas.openxmlformats.org/drawingml/2006/main">
              <a:ext uri="{FF2B5EF4-FFF2-40B4-BE49-F238E27FC236}">
                <a16:creationId xmlns:a16="http://schemas.microsoft.com/office/drawing/2014/main" id="{EBD9C33B-0B79-4CEB-87FE-F4B5CEB1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625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llaborator-ask">
            <a:extLst xmlns:a="http://schemas.openxmlformats.org/drawingml/2006/main">
              <a:ext uri="{FF2B5EF4-FFF2-40B4-BE49-F238E27FC236}">
                <a16:creationId xmlns:a16="http://schemas.microsoft.com/office/drawing/2014/main" id="{5323CE00-FA17-4FB6-AD3B-28B84794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43525"/>
            <a:ext cx="103632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ASK  </a:t>
            </a:r>
            <a:r>
              <a:rPr sz="16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Formalize the generative model, test identifiability and power, define the data contracts, and design the smallest prospective alpha that can kill—or strengthen—the thesis.</a:t>
            </a:r>
          </a:p>
        </p:txBody>
      </p:sp>
      <p:sp>
        <p:nvSpPr>
          <p:cNvPr id="14" name="Validation-page-number">
            <a:extLst xmlns:a="http://schemas.openxmlformats.org/drawingml/2006/main">
              <a:ext uri="{FF2B5EF4-FFF2-40B4-BE49-F238E27FC236}">
                <a16:creationId xmlns:a16="http://schemas.microsoft.com/office/drawing/2014/main" id="{A11F200B-A578-46A0-88EE-53DE6EA5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438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2026-08-26T05:13:49.6900000Z</dcterms:created>
  <dcterms:modified xsi:type="dcterms:W3CDTF">2026-08-26T05:13:49.6910000Z</dcterms:modified>
</coreProperties>
</file>