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051aa41d0d4255" /><Relationship Type="http://schemas.openxmlformats.org/officeDocument/2006/relationships/extended-properties" Target="/docProps/app.xml" Id="R6d6587b33b8940a0" /><Relationship Type="http://schemas.openxmlformats.org/officeDocument/2006/relationships/officeDocument" Target="/ppt/presentation.xml" Id="Rbd208051847c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7b84a1216746fd"/>
  </p:sldMasterIdLst>
  <p:notesMasterIdLst>
    <p:notesMasterId xmlns:r="http://schemas.openxmlformats.org/officeDocument/2006/relationships" r:id="R15dabd808cfb440e"/>
  </p:notesMasterIdLst>
  <p:sldIdLst>
    <p:sldId xmlns:r="http://schemas.openxmlformats.org/officeDocument/2006/relationships" id="256" r:id="Rc013003e389d4c38"/>
    <p:sldId xmlns:r="http://schemas.openxmlformats.org/officeDocument/2006/relationships" id="257" r:id="R8fe97a23a7ff4219"/>
    <p:sldId xmlns:r="http://schemas.openxmlformats.org/officeDocument/2006/relationships" id="258" r:id="R9340020daee549a4"/>
    <p:sldId xmlns:r="http://schemas.openxmlformats.org/officeDocument/2006/relationships" id="259" r:id="Rc2f84a8f8a19479f"/>
    <p:sldId xmlns:r="http://schemas.openxmlformats.org/officeDocument/2006/relationships" id="260" r:id="Rda076f68005f49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a2283ff9a441d" /><Relationship Type="http://schemas.openxmlformats.org/officeDocument/2006/relationships/slideMaster" Target="/ppt/slideMasters/slideMaster1.xml" Id="Rd87b84a1216746fd" /><Relationship Type="http://schemas.openxmlformats.org/officeDocument/2006/relationships/notesMaster" Target="/ppt/notesMasters/notesMaster1.xml" Id="R15dabd808cfb440e" /><Relationship Type="http://schemas.openxmlformats.org/officeDocument/2006/relationships/presProps" Target="/ppt/presProps.xml" Id="R845c4b3fe79e4c8b" /><Relationship Type="http://schemas.openxmlformats.org/officeDocument/2006/relationships/tableStyles" Target="/ppt/tableStyles.xml" Id="Raf82c39539994406" /><Relationship Type="http://schemas.openxmlformats.org/officeDocument/2006/relationships/slide" Target="/ppt/slides/slide1.xml" Id="Rc013003e389d4c38" /><Relationship Type="http://schemas.openxmlformats.org/officeDocument/2006/relationships/slide" Target="/ppt/slides/slide2.xml" Id="R8fe97a23a7ff4219" /><Relationship Type="http://schemas.openxmlformats.org/officeDocument/2006/relationships/slide" Target="/ppt/slides/slide3.xml" Id="R9340020daee549a4" /><Relationship Type="http://schemas.openxmlformats.org/officeDocument/2006/relationships/slide" Target="/ppt/slides/slide4.xml" Id="Rc2f84a8f8a19479f" /><Relationship Type="http://schemas.openxmlformats.org/officeDocument/2006/relationships/slide" Target="/ppt/slides/slide5.xml" Id="Rda076f68005f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6c4f33cf547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10bddf6e3d49de" /><Relationship Type="http://schemas.openxmlformats.org/officeDocument/2006/relationships/notesMaster" Target="/ppt/notesMasters/notesMaster1.xml" Id="R001544edd2904f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23f06585141f0" /><Relationship Type="http://schemas.openxmlformats.org/officeDocument/2006/relationships/notesMaster" Target="/ppt/notesMasters/notesMaster1.xml" Id="R38c19f44aa8e45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4fdb7a8c124263" /><Relationship Type="http://schemas.openxmlformats.org/officeDocument/2006/relationships/notesMaster" Target="/ppt/notesMasters/notesMaster1.xml" Id="Rd63c8e078423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de1e6540694878" /><Relationship Type="http://schemas.openxmlformats.org/officeDocument/2006/relationships/notesMaster" Target="/ppt/notesMasters/notesMaster1.xml" Id="R48fc44b4b819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b882e5df014be2" /><Relationship Type="http://schemas.openxmlformats.org/officeDocument/2006/relationships/notesMaster" Target="/ppt/notesMasters/notesMaster1.xml" Id="R20843fb01ee24a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Your behavior is already being modeled. The objective just is not your flourishing.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Technology companies learn which signals predict a click, purchase, or another minute on-screen. I want to turn that system around: a personal model that works for the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claim boundary: docs/research/adtech-to-flourishing-evidence-audit.md.</a:t>
            </a:r>
          </a:p>
          <a:p xmlns:a="http://schemas.openxmlformats.org/drawingml/2006/main">
            <a:r>
              <a:t>- Visual direction: https://vercel.com/ (official homepage, accessed 2026-08-26).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someone who moved to a new city. They meet people and keep saying yes, but still feel disconnected. After a draining night, should they force another event, stay home, or follow up with the one person who felt promising?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Generic advice cannot know. And another chatbot conversation is not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is explicitly hypothetical and mirrors the synthetic prototype fixture.</a:t>
            </a:r>
          </a:p>
          <a:p xmlns:a="http://schemas.openxmlformats.org/drawingml/2006/main">
            <a:r>
              <a:t>- Illustration generated for this deck; it does not depict a real participant or outcome.</a:t>
            </a:r>
          </a:p>
          <a:p xmlns:a="http://schemas.openxmlformats.org/drawingml/2006/main">
            <a:r>
              <a:t>- Visual direction: https://vercel.com/ (official homepage, accessed 2026-08-26).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Wayfinder begins with signals the participant chooses: a short reflection, a few relationship events, and optional recovery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language model only turns words into inspectable evidence. A separate model updates an uncertain personal state. Every meaningful inference shows its source and can be corrected.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Working prototype screenshot captured from origin/feat/two-minute-wayfinder-demo; synthetic data is visibly labeled.</a:t>
            </a:r>
          </a:p>
          <a:p xmlns:a="http://schemas.openxmlformats.org/drawingml/2006/main">
            <a:r>
              <a:t>- Product boundary: docs/specs/two-minute-demo-v0.1.md on the demo branch and docs/specs/wayfinder-production-alpha-prd-v0.1.md.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this working prototype, the model notices that interest in connection is intact, but capacity is down. Instead of ‘socialize more,’ it offers one bounded next step: protect tonight, then send a low-pressure coffee invitation tomorrow—in your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Nothing is sent automatically. What happened next becomes new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Working prototype screenshot captured from origin/feat/two-minute-wayfinder-demo; the participant and data are synthetic.</a:t>
            </a:r>
          </a:p>
          <a:p xmlns:a="http://schemas.openxmlformats.org/drawingml/2006/main">
            <a:r>
              <a:t>- Recommendation boundary: docs/specs/two-minute-demo-v0.1.md and docs/specs/wayfinder-production-alpha-prd-v0.1.md.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diagnosis, and the current prototype uses synthetic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next milestone is a private longitudinal alpha that remembers consent, corrections, and outcomes across days. The first market is people navigating social transitions and partners who already care about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goal is not more time with AI. It is stronger human relationships—and less need for the system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Production-alpha milestone and guardrails: docs/specs/wayfinder-production-alpha-prd-v0.1.md.</a:t>
            </a:r>
          </a:p>
          <a:p xmlns:a="http://schemas.openxmlformats.org/drawingml/2006/main">
            <a:r>
              <a:t>- Market and channel language is explicitly a hypothesis; it has not been validated.</a:t>
            </a:r>
          </a:p>
          <a:p xmlns:a="http://schemas.openxmlformats.org/drawingml/2006/main">
            <a:r>
              <a:t>- Visual direction: https://vercel.com/ (official homepage, accessed 2026-08-26).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ed8f96bed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79415107844b7c" /><Relationship Type="http://schemas.openxmlformats.org/officeDocument/2006/relationships/slideLayout" Target="/ppt/slideLayouts/slideLayout1.xml" Id="R2a85410ad16b47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85410ad16b47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6fad474d841c2" /><Relationship Type="http://schemas.openxmlformats.org/officeDocument/2006/relationships/notesSlide" Target="/ppt/notesSlides/notesSlide1.xml" Id="Ra543183cd1f847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44a1169eb4ddd" /><Relationship Type="http://schemas.openxmlformats.org/officeDocument/2006/relationships/image" Target="/ppt/media/image.png" Id="R9b437ecc1c714646" /><Relationship Type="http://schemas.openxmlformats.org/officeDocument/2006/relationships/notesSlide" Target="/ppt/notesSlides/notesSlide2.xml" Id="R434f2568b74a46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6603eb29340b4" /><Relationship Type="http://schemas.openxmlformats.org/officeDocument/2006/relationships/image" Target="/ppt/media/image.jpeg" Id="Ra1ddc93f92934b5c" /><Relationship Type="http://schemas.openxmlformats.org/officeDocument/2006/relationships/notesSlide" Target="/ppt/notesSlides/notesSlide3.xml" Id="R83cbbb66664144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8aeab1e0a4010" /><Relationship Type="http://schemas.openxmlformats.org/officeDocument/2006/relationships/image" Target="/ppt/media/image2.jpeg" Id="Rd89f00eb74ce4acc" /><Relationship Type="http://schemas.openxmlformats.org/officeDocument/2006/relationships/notesSlide" Target="/ppt/notesSlides/notesSlide4.xml" Id="Ra41bd2549c4a45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b1b8a10544fe9" /><Relationship Type="http://schemas.openxmlformats.org/officeDocument/2006/relationships/notesSlide" Target="/ppt/notesSlides/notesSlide5.xml" Id="Re436c0575e2d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1">
            <a:extLst xmlns:a="http://schemas.openxmlformats.org/drawingml/2006/main">
              <a:ext uri="{FF2B5EF4-FFF2-40B4-BE49-F238E27FC236}">
                <a16:creationId xmlns:a16="http://schemas.microsoft.com/office/drawing/2014/main" id="{6654EEB5-6BE6-4029-83EC-908BC8E8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1">
            <a:extLst xmlns:a="http://schemas.openxmlformats.org/drawingml/2006/main">
              <a:ext uri="{FF2B5EF4-FFF2-40B4-BE49-F238E27FC236}">
                <a16:creationId xmlns:a16="http://schemas.microsoft.com/office/drawing/2014/main" id="{B7ED372D-C94B-4455-B799-63D0D16A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1">
            <a:extLst xmlns:a="http://schemas.openxmlformats.org/drawingml/2006/main">
              <a:ext uri="{FF2B5EF4-FFF2-40B4-BE49-F238E27FC236}">
                <a16:creationId xmlns:a16="http://schemas.microsoft.com/office/drawing/2014/main" id="{346DA23A-3BF9-45B6-9627-53672B3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1">
            <a:extLst xmlns:a="http://schemas.openxmlformats.org/drawingml/2006/main">
              <a:ext uri="{FF2B5EF4-FFF2-40B4-BE49-F238E27FC236}">
                <a16:creationId xmlns:a16="http://schemas.microsoft.com/office/drawing/2014/main" id="{7E9F662B-AA95-4C0A-8118-2699A50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1">
            <a:extLst xmlns:a="http://schemas.openxmlformats.org/drawingml/2006/main">
              <a:ext uri="{FF2B5EF4-FFF2-40B4-BE49-F238E27FC236}">
                <a16:creationId xmlns:a16="http://schemas.microsoft.com/office/drawing/2014/main" id="{067DE5AB-7DCE-4D7D-BC20-3B1A47F5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1">
            <a:extLst xmlns:a="http://schemas.openxmlformats.org/drawingml/2006/main">
              <a:ext uri="{FF2B5EF4-FFF2-40B4-BE49-F238E27FC236}">
                <a16:creationId xmlns:a16="http://schemas.microsoft.com/office/drawing/2014/main" id="{990DA7D4-7D40-4EF3-8F42-E92B08B5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1">
            <a:extLst xmlns:a="http://schemas.openxmlformats.org/drawingml/2006/main">
              <a:ext uri="{FF2B5EF4-FFF2-40B4-BE49-F238E27FC236}">
                <a16:creationId xmlns:a16="http://schemas.microsoft.com/office/drawing/2014/main" id="{38A23C69-E653-4BE2-9E61-D0E03763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1">
            <a:extLst xmlns:a="http://schemas.openxmlformats.org/drawingml/2006/main">
              <a:ext uri="{FF2B5EF4-FFF2-40B4-BE49-F238E27FC236}">
                <a16:creationId xmlns:a16="http://schemas.microsoft.com/office/drawing/2014/main" id="{A24652C4-AF80-49BA-B44A-22663A63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hesis-kicker">
            <a:extLst xmlns:a="http://schemas.openxmlformats.org/drawingml/2006/main">
              <a:ext uri="{FF2B5EF4-FFF2-40B4-BE49-F238E27FC236}">
                <a16:creationId xmlns:a16="http://schemas.microsoft.com/office/drawing/2014/main" id="{2CBAFFF8-63E2-40BA-9E98-E288856C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PARTICIPANT-OWNED PERSONALIZATION</a:t>
            </a:r>
          </a:p>
        </p:txBody>
      </p:sp>
      <p:sp>
        <p:nvSpPr>
          <p:cNvPr id="10" name="thesis-title">
            <a:extLst xmlns:a="http://schemas.openxmlformats.org/drawingml/2006/main">
              <a:ext uri="{FF2B5EF4-FFF2-40B4-BE49-F238E27FC236}">
                <a16:creationId xmlns:a16="http://schemas.microsoft.com/office/drawing/2014/main" id="{BC66F950-26CF-49D1-910E-BDA5025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38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behavior is already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being modeled.</a:t>
            </a:r>
          </a:p>
        </p:txBody>
      </p:sp>
      <p:sp>
        <p:nvSpPr>
          <p:cNvPr id="11" name="thesis-subtitle">
            <a:extLst xmlns:a="http://schemas.openxmlformats.org/drawingml/2006/main">
              <a:ext uri="{FF2B5EF4-FFF2-40B4-BE49-F238E27FC236}">
                <a16:creationId xmlns:a16="http://schemas.microsoft.com/office/drawing/2014/main" id="{A4BD182C-3E32-4287-A1CA-8531FB5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objective just is not </a:t>
            </a:r>
            <a:r>
              <a:rPr sz="3150" b="0">
                <a:solidFill>
                  <a:srgbClr val="65D49A"/>
                </a:solidFill>
                <a:latin typeface="Arial"/>
                <a:ea typeface="Arial"/>
                <a:cs typeface="Arial"/>
              </a:rPr>
              <a:t>your flourishing</a:t>
            </a: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founder-line">
            <a:extLst xmlns:a="http://schemas.openxmlformats.org/drawingml/2006/main">
              <a:ext uri="{FF2B5EF4-FFF2-40B4-BE49-F238E27FC236}">
                <a16:creationId xmlns:a16="http://schemas.microsoft.com/office/drawing/2014/main" id="{CBD624FB-9F56-4B41-BF5C-4A4CED5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JONAH ELLIOTT  /  TWO-MINUTE PITCH</a:t>
            </a:r>
          </a:p>
        </p:txBody>
      </p:sp>
    </p:spTree>
    <p:extLst>
      <p:ext uri="{BB962C8B-B14F-4D97-AF65-F5344CB8AC3E}">
        <p14:creationId xmlns:p14="http://schemas.microsoft.com/office/powerpoint/2010/main" val="1321911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2">
            <a:extLst xmlns:a="http://schemas.openxmlformats.org/drawingml/2006/main">
              <a:ext uri="{FF2B5EF4-FFF2-40B4-BE49-F238E27FC236}">
                <a16:creationId xmlns:a16="http://schemas.microsoft.com/office/drawing/2014/main" id="{4663A763-4504-4F9E-9929-7C1473E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2">
            <a:extLst xmlns:a="http://schemas.openxmlformats.org/drawingml/2006/main">
              <a:ext uri="{FF2B5EF4-FFF2-40B4-BE49-F238E27FC236}">
                <a16:creationId xmlns:a16="http://schemas.microsoft.com/office/drawing/2014/main" id="{E3A08B5C-67C4-47B9-9B81-CCF7EE96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647DFBDA-BDED-41DB-8AD1-A86A6932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2">
            <a:extLst xmlns:a="http://schemas.openxmlformats.org/drawingml/2006/main">
              <a:ext uri="{FF2B5EF4-FFF2-40B4-BE49-F238E27FC236}">
                <a16:creationId xmlns:a16="http://schemas.microsoft.com/office/drawing/2014/main" id="{31E58AF8-EC1F-45B7-83DE-825AE4CC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2">
            <a:extLst xmlns:a="http://schemas.openxmlformats.org/drawingml/2006/main">
              <a:ext uri="{FF2B5EF4-FFF2-40B4-BE49-F238E27FC236}">
                <a16:creationId xmlns:a16="http://schemas.microsoft.com/office/drawing/2014/main" id="{30EF0D8E-4381-49AC-B81D-7617D30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2">
            <a:extLst xmlns:a="http://schemas.openxmlformats.org/drawingml/2006/main">
              <a:ext uri="{FF2B5EF4-FFF2-40B4-BE49-F238E27FC236}">
                <a16:creationId xmlns:a16="http://schemas.microsoft.com/office/drawing/2014/main" id="{BACDD5D9-834C-426E-BF03-F94955C0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2">
            <a:extLst xmlns:a="http://schemas.openxmlformats.org/drawingml/2006/main">
              <a:ext uri="{FF2B5EF4-FFF2-40B4-BE49-F238E27FC236}">
                <a16:creationId xmlns:a16="http://schemas.microsoft.com/office/drawing/2014/main" id="{9D999CF5-46EC-4A58-BFEB-6E635FA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056F92D4-4551-4CE8-AB6E-332722C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F34B716E-A889-4563-80EF-BE12526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plans are not the same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 more connection.</a:t>
            </a:r>
          </a:p>
        </p:txBody>
      </p:sp>
      <p:sp>
        <p:nvSpPr>
          <p:cNvPr id="1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4A5D0CA-7353-477F-9DC5-752B53AA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New city. More invitations.</a:t>
            </a:r>
          </a:p>
          <a:p xmlns:a="http://schemas.openxmlformats.org/drawingml/2006/main">
            <a:pPr algn="l">
              <a:defRPr sz="210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Still unsure what will actually help.</a:t>
            </a:r>
          </a:p>
        </p:txBody>
      </p:sp>
      <p:sp>
        <p:nvSpPr>
          <p:cNvPr id="11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8D28411E-D1E6-4006-9BF6-BFFFB8D3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2" name="problem-outcome">
            <a:extLst xmlns:a="http://schemas.openxmlformats.org/drawingml/2006/main">
              <a:ext uri="{FF2B5EF4-FFF2-40B4-BE49-F238E27FC236}">
                <a16:creationId xmlns:a16="http://schemas.microsoft.com/office/drawing/2014/main" id="{9388B53D-ED7D-41BE-B516-5326251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outcome is not another chat.</a:t>
            </a:r>
          </a:p>
          <a:p xmlns:a="http://schemas.openxmlformats.org/drawingml/2006/main">
            <a:pPr algn="l">
              <a:defRPr sz="15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It is a better decision in real life.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37ecc1c714646"/>
          <a:srcRect xmlns:a="http://schemas.openxmlformats.org/drawingml/2006/main" l="22485" t="0" r="22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914400"/>
            <a:ext cx="5029200" cy="5143500"/>
          </a:xfrm>
          <a:prstGeom xmlns:a="http://schemas.openxmlformats.org/drawingml/2006/main" prst="rect">
            <a:avLst/>
          </a:prstGeom>
        </p:spPr>
      </p:pic>
      <p:sp>
        <p:nvSpPr>
          <p:cNvPr id="14" name="story-frame">
            <a:extLst xmlns:a="http://schemas.openxmlformats.org/drawingml/2006/main">
              <a:ext uri="{FF2B5EF4-FFF2-40B4-BE49-F238E27FC236}">
                <a16:creationId xmlns:a16="http://schemas.microsoft.com/office/drawing/2014/main" id="{C09BA845-7F84-4E8B-8840-8795ED1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904875"/>
            <a:ext cx="5048250" cy="516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8514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3">
            <a:extLst xmlns:a="http://schemas.openxmlformats.org/drawingml/2006/main">
              <a:ext uri="{FF2B5EF4-FFF2-40B4-BE49-F238E27FC236}">
                <a16:creationId xmlns:a16="http://schemas.microsoft.com/office/drawing/2014/main" id="{4F9199D4-B81E-4BE7-A72C-A9F0412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3">
            <a:extLst xmlns:a="http://schemas.openxmlformats.org/drawingml/2006/main">
              <a:ext uri="{FF2B5EF4-FFF2-40B4-BE49-F238E27FC236}">
                <a16:creationId xmlns:a16="http://schemas.microsoft.com/office/drawing/2014/main" id="{412F7756-F298-486E-A8F4-94C73A0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BF3724C7-6876-4190-A7E5-479EAED8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3">
            <a:extLst xmlns:a="http://schemas.openxmlformats.org/drawingml/2006/main">
              <a:ext uri="{FF2B5EF4-FFF2-40B4-BE49-F238E27FC236}">
                <a16:creationId xmlns:a16="http://schemas.microsoft.com/office/drawing/2014/main" id="{9037205F-88C6-421E-B04E-31C8BE2C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3">
            <a:extLst xmlns:a="http://schemas.openxmlformats.org/drawingml/2006/main">
              <a:ext uri="{FF2B5EF4-FFF2-40B4-BE49-F238E27FC236}">
                <a16:creationId xmlns:a16="http://schemas.microsoft.com/office/drawing/2014/main" id="{9D9B11AB-FDAF-4DA5-9826-D9DFD053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3">
            <a:extLst xmlns:a="http://schemas.openxmlformats.org/drawingml/2006/main">
              <a:ext uri="{FF2B5EF4-FFF2-40B4-BE49-F238E27FC236}">
                <a16:creationId xmlns:a16="http://schemas.microsoft.com/office/drawing/2014/main" id="{C955ACA0-0151-4074-A9DB-30DBEDBB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3">
            <a:extLst xmlns:a="http://schemas.openxmlformats.org/drawingml/2006/main">
              <a:ext uri="{FF2B5EF4-FFF2-40B4-BE49-F238E27FC236}">
                <a16:creationId xmlns:a16="http://schemas.microsoft.com/office/drawing/2014/main" id="{BF56DFAC-136C-4321-B713-6142C6C5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3">
            <a:extLst xmlns:a="http://schemas.openxmlformats.org/drawingml/2006/main">
              <a:ext uri="{FF2B5EF4-FFF2-40B4-BE49-F238E27FC236}">
                <a16:creationId xmlns:a16="http://schemas.microsoft.com/office/drawing/2014/main" id="{5C1493D6-F4CE-4D24-8D47-B4213D65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input-kicker">
            <a:extLst xmlns:a="http://schemas.openxmlformats.org/drawingml/2006/main">
              <a:ext uri="{FF2B5EF4-FFF2-40B4-BE49-F238E27FC236}">
                <a16:creationId xmlns:a16="http://schemas.microsoft.com/office/drawing/2014/main" id="{C2AC9930-A440-405E-B2A7-C466AC1B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D4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D49A"/>
                </a:solidFill>
                <a:latin typeface="Arial"/>
                <a:ea typeface="Arial"/>
                <a:cs typeface="Arial"/>
              </a:rPr>
              <a:t>WORKING PROTOTYPE / SYNTHETIC SCENARIO</a:t>
            </a:r>
          </a:p>
        </p:txBody>
      </p:sp>
      <p:sp>
        <p:nvSpPr>
          <p:cNvPr id="10" name="input-title">
            <a:extLst xmlns:a="http://schemas.openxmlformats.org/drawingml/2006/main">
              <a:ext uri="{FF2B5EF4-FFF2-40B4-BE49-F238E27FC236}">
                <a16:creationId xmlns:a16="http://schemas.microsoft.com/office/drawing/2014/main" id="{4FEF8551-D566-40E0-B8B3-6C44EC75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572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Wayfinder starts with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signals you choose.</a:t>
            </a:r>
          </a:p>
        </p:txBody>
      </p:sp>
      <p:sp>
        <p:nvSpPr>
          <p:cNvPr id="11" name="input-copy">
            <a:extLst xmlns:a="http://schemas.openxmlformats.org/drawingml/2006/main">
              <a:ext uri="{FF2B5EF4-FFF2-40B4-BE49-F238E27FC236}">
                <a16:creationId xmlns:a16="http://schemas.microsoft.com/office/drawing/2014/main" id="{C76A94E8-E000-41C4-9D9E-EAF212DB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Reflection. Relationship events.</a:t>
            </a:r>
          </a:p>
          <a:p xmlns:a="http://schemas.openxmlformats.org/drawingml/2006/main">
            <a:pPr algn="l">
              <a:defRPr sz="19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Optional recovery data.</a:t>
            </a:r>
          </a:p>
        </p:txBody>
      </p:sp>
      <p:sp>
        <p:nvSpPr>
          <p:cNvPr id="12" name="input-accent">
            <a:extLst xmlns:a="http://schemas.openxmlformats.org/drawingml/2006/main">
              <a:ext uri="{FF2B5EF4-FFF2-40B4-BE49-F238E27FC236}">
                <a16:creationId xmlns:a16="http://schemas.microsoft.com/office/drawing/2014/main" id="{EC663A88-381D-441B-8A3A-33217D6F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3" name="input-boundary">
            <a:extLst xmlns:a="http://schemas.openxmlformats.org/drawingml/2006/main">
              <a:ext uri="{FF2B5EF4-FFF2-40B4-BE49-F238E27FC236}">
                <a16:creationId xmlns:a16="http://schemas.microsoft.com/office/drawing/2014/main" id="{5EE7FB56-D999-4113-847D-F0D36A26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LLM proposes evidence.</a:t>
            </a:r>
          </a:p>
          <a:p xmlns:a="http://schemas.openxmlformats.org/drawingml/2006/main">
            <a:pPr algn="l"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participant can inspect and correct it.</a:t>
            </a:r>
          </a:p>
        </p:txBody>
      </p:sp>
      <p:sp>
        <p:nvSpPr>
          <p:cNvPr id="14" name="input-screen-backing">
            <a:extLst xmlns:a="http://schemas.openxmlformats.org/drawingml/2006/main">
              <a:ext uri="{FF2B5EF4-FFF2-40B4-BE49-F238E27FC236}">
                <a16:creationId xmlns:a16="http://schemas.microsoft.com/office/drawing/2014/main" id="{C6AD5613-90D1-4159-934B-CDC52CF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981075"/>
            <a:ext cx="569595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dc93f92934b5c"/>
          <a:srcRect xmlns:a="http://schemas.openxmlformats.org/drawingml/2006/main" l="0" t="2543" r="0" b="25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990600"/>
            <a:ext cx="5676900" cy="506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57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4">
            <a:extLst xmlns:a="http://schemas.openxmlformats.org/drawingml/2006/main">
              <a:ext uri="{FF2B5EF4-FFF2-40B4-BE49-F238E27FC236}">
                <a16:creationId xmlns:a16="http://schemas.microsoft.com/office/drawing/2014/main" id="{8612D0E9-4969-4FAA-AF75-D78E04E6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4">
            <a:extLst xmlns:a="http://schemas.openxmlformats.org/drawingml/2006/main">
              <a:ext uri="{FF2B5EF4-FFF2-40B4-BE49-F238E27FC236}">
                <a16:creationId xmlns:a16="http://schemas.microsoft.com/office/drawing/2014/main" id="{C73161E0-A1F8-4259-AACC-6717E84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977BDCE8-FB40-477A-9750-BFCCB91F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4">
            <a:extLst xmlns:a="http://schemas.openxmlformats.org/drawingml/2006/main">
              <a:ext uri="{FF2B5EF4-FFF2-40B4-BE49-F238E27FC236}">
                <a16:creationId xmlns:a16="http://schemas.microsoft.com/office/drawing/2014/main" id="{4AA43960-F563-41B5-B092-AB7007D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4">
            <a:extLst xmlns:a="http://schemas.openxmlformats.org/drawingml/2006/main">
              <a:ext uri="{FF2B5EF4-FFF2-40B4-BE49-F238E27FC236}">
                <a16:creationId xmlns:a16="http://schemas.microsoft.com/office/drawing/2014/main" id="{20C40BC2-902D-4629-B095-F0159132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4">
            <a:extLst xmlns:a="http://schemas.openxmlformats.org/drawingml/2006/main">
              <a:ext uri="{FF2B5EF4-FFF2-40B4-BE49-F238E27FC236}">
                <a16:creationId xmlns:a16="http://schemas.microsoft.com/office/drawing/2014/main" id="{596CDD7E-3209-44E8-847F-B9756D04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4">
            <a:extLst xmlns:a="http://schemas.openxmlformats.org/drawingml/2006/main">
              <a:ext uri="{FF2B5EF4-FFF2-40B4-BE49-F238E27FC236}">
                <a16:creationId xmlns:a16="http://schemas.microsoft.com/office/drawing/2014/main" id="{EE8ED25E-25F5-4D27-A881-D33E8E16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4">
            <a:extLst xmlns:a="http://schemas.openxmlformats.org/drawingml/2006/main">
              <a:ext uri="{FF2B5EF4-FFF2-40B4-BE49-F238E27FC236}">
                <a16:creationId xmlns:a16="http://schemas.microsoft.com/office/drawing/2014/main" id="{E73E8F96-9347-4238-B898-4FD1274A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output-kicker">
            <a:extLst xmlns:a="http://schemas.openxmlformats.org/drawingml/2006/main">
              <a:ext uri="{FF2B5EF4-FFF2-40B4-BE49-F238E27FC236}">
                <a16:creationId xmlns:a16="http://schemas.microsoft.com/office/drawing/2014/main" id="{F3561AB0-FCC7-4ABC-92F6-CFB371F9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D4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D49A"/>
                </a:solidFill>
                <a:latin typeface="Arial"/>
                <a:ea typeface="Arial"/>
                <a:cs typeface="Arial"/>
              </a:rPr>
              <a:t>ONE CORRECTABLE EXPLANATION</a:t>
            </a:r>
          </a:p>
        </p:txBody>
      </p:sp>
      <p:sp>
        <p:nvSpPr>
          <p:cNvPr id="10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909FF9AF-E9F6-4FD5-BBFE-3C7DD20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191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Capacity,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avoidance.</a:t>
            </a:r>
          </a:p>
        </p:txBody>
      </p:sp>
      <p:sp>
        <p:nvSpPr>
          <p:cNvPr id="11" name="output-action">
            <a:extLst xmlns:a="http://schemas.openxmlformats.org/drawingml/2006/main">
              <a:ext uri="{FF2B5EF4-FFF2-40B4-BE49-F238E27FC236}">
                <a16:creationId xmlns:a16="http://schemas.microsoft.com/office/drawing/2014/main" id="{88D9AD4B-7679-45ED-9DA7-50CB71D9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Protect tonight.</a:t>
            </a:r>
          </a:p>
          <a:p xmlns:a="http://schemas.openxmlformats.org/drawingml/2006/main">
            <a:pPr algn="l">
              <a:defRPr sz="22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Keep tomorrow warm.</a:t>
            </a:r>
          </a:p>
        </p:txBody>
      </p:sp>
      <p:sp>
        <p:nvSpPr>
          <p:cNvPr id="12" name="output-accent">
            <a:extLst xmlns:a="http://schemas.openxmlformats.org/drawingml/2006/main">
              <a:ext uri="{FF2B5EF4-FFF2-40B4-BE49-F238E27FC236}">
                <a16:creationId xmlns:a16="http://schemas.microsoft.com/office/drawing/2014/main" id="{54AB8F6B-C5D6-402D-B2BA-5D48779C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3" name="output-control">
            <a:extLst xmlns:a="http://schemas.openxmlformats.org/drawingml/2006/main">
              <a:ext uri="{FF2B5EF4-FFF2-40B4-BE49-F238E27FC236}">
                <a16:creationId xmlns:a16="http://schemas.microsoft.com/office/drawing/2014/main" id="{D4B2D229-E97A-476C-ACE4-03BEE693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One bounded next step.</a:t>
            </a:r>
          </a:p>
          <a:p xmlns:a="http://schemas.openxmlformats.org/drawingml/2006/main">
            <a:pPr algn="l"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Nothing is sent automatically.</a:t>
            </a:r>
          </a:p>
        </p:txBody>
      </p:sp>
      <p:sp>
        <p:nvSpPr>
          <p:cNvPr id="14" name="recommendation-screen-backing">
            <a:extLst xmlns:a="http://schemas.openxmlformats.org/drawingml/2006/main">
              <a:ext uri="{FF2B5EF4-FFF2-40B4-BE49-F238E27FC236}">
                <a16:creationId xmlns:a16="http://schemas.microsoft.com/office/drawing/2014/main" id="{3B5C60CF-4AE9-4ED8-B128-B60878B3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981075"/>
            <a:ext cx="611505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f00eb74ce4acc"/>
          <a:srcRect xmlns:a="http://schemas.openxmlformats.org/drawingml/2006/main" l="0" t="5805" r="0" b="5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990600"/>
            <a:ext cx="6096000" cy="506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27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5">
            <a:extLst xmlns:a="http://schemas.openxmlformats.org/drawingml/2006/main">
              <a:ext uri="{FF2B5EF4-FFF2-40B4-BE49-F238E27FC236}">
                <a16:creationId xmlns:a16="http://schemas.microsoft.com/office/drawing/2014/main" id="{1ED663A4-131C-4031-BBDC-0B13A995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5">
            <a:extLst xmlns:a="http://schemas.openxmlformats.org/drawingml/2006/main">
              <a:ext uri="{FF2B5EF4-FFF2-40B4-BE49-F238E27FC236}">
                <a16:creationId xmlns:a16="http://schemas.microsoft.com/office/drawing/2014/main" id="{B1737D15-4004-4A53-A6E7-F61D9AB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D5A1E358-35FB-47BB-9B9C-4D6FC37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5">
            <a:extLst xmlns:a="http://schemas.openxmlformats.org/drawingml/2006/main">
              <a:ext uri="{FF2B5EF4-FFF2-40B4-BE49-F238E27FC236}">
                <a16:creationId xmlns:a16="http://schemas.microsoft.com/office/drawing/2014/main" id="{A12FB43F-306C-41A3-AAEE-0E80E8A1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5">
            <a:extLst xmlns:a="http://schemas.openxmlformats.org/drawingml/2006/main">
              <a:ext uri="{FF2B5EF4-FFF2-40B4-BE49-F238E27FC236}">
                <a16:creationId xmlns:a16="http://schemas.microsoft.com/office/drawing/2014/main" id="{E82C632F-0EDD-416D-86B7-89F18FFA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5">
            <a:extLst xmlns:a="http://schemas.openxmlformats.org/drawingml/2006/main">
              <a:ext uri="{FF2B5EF4-FFF2-40B4-BE49-F238E27FC236}">
                <a16:creationId xmlns:a16="http://schemas.microsoft.com/office/drawing/2014/main" id="{3F5B6412-7C7B-46AA-A021-0A4F2C0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5">
            <a:extLst xmlns:a="http://schemas.openxmlformats.org/drawingml/2006/main">
              <a:ext uri="{FF2B5EF4-FFF2-40B4-BE49-F238E27FC236}">
                <a16:creationId xmlns:a16="http://schemas.microsoft.com/office/drawing/2014/main" id="{4D4CD95C-B46C-4979-85AD-E728E7C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5">
            <a:extLst xmlns:a="http://schemas.openxmlformats.org/drawingml/2006/main">
              <a:ext uri="{FF2B5EF4-FFF2-40B4-BE49-F238E27FC236}">
                <a16:creationId xmlns:a16="http://schemas.microsoft.com/office/drawing/2014/main" id="{AB679F85-A64C-4BD3-A5C0-E84DB715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352D0B1-4C89-4C2D-8468-7DE5E16B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NEXT / PRIVATE LONGITUDINAL ALPHA</a:t>
            </a:r>
          </a:p>
        </p:txBody>
      </p:sp>
      <p:sp>
        <p:nvSpPr>
          <p:cNvPr id="10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B8A3069-A5AF-4877-AE8F-728E9148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</a:t>
            </a:r>
            <a:r>
              <a:rPr sz="5250" b="1">
                <a:solidFill>
                  <a:srgbClr val="65D49A"/>
                </a:solidFill>
                <a:latin typeface="Arial"/>
                <a:ea typeface="Arial"/>
                <a:cs typeface="Arial"/>
              </a:rPr>
              <a:t>human connection</a:t>
            </a: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 AI dependence.</a:t>
            </a:r>
          </a:p>
        </p:txBody>
      </p:sp>
      <p:sp>
        <p:nvSpPr>
          <p:cNvPr id="11" name="close-rule">
            <a:extLst xmlns:a="http://schemas.openxmlformats.org/drawingml/2006/main">
              <a:ext uri="{FF2B5EF4-FFF2-40B4-BE49-F238E27FC236}">
                <a16:creationId xmlns:a16="http://schemas.microsoft.com/office/drawing/2014/main" id="{502ADBFC-CF74-4BC9-9D88-FBA37F51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12" name="close-one">
            <a:extLst xmlns:a="http://schemas.openxmlformats.org/drawingml/2006/main">
              <a:ext uri="{FF2B5EF4-FFF2-40B4-BE49-F238E27FC236}">
                <a16:creationId xmlns:a16="http://schemas.microsoft.com/office/drawing/2014/main" id="{719049D3-B153-4F96-B4A3-27227B87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CONSENT</a:t>
            </a:r>
          </a:p>
        </p:txBody>
      </p:sp>
      <p:sp>
        <p:nvSpPr>
          <p:cNvPr id="13" name="close-one-copy">
            <a:extLst xmlns:a="http://schemas.openxmlformats.org/drawingml/2006/main">
              <a:ext uri="{FF2B5EF4-FFF2-40B4-BE49-F238E27FC236}">
                <a16:creationId xmlns:a16="http://schemas.microsoft.com/office/drawing/2014/main" id="{7A693DEF-2DDE-43EF-84DB-16B48EAB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Every source chosen and revocable.</a:t>
            </a:r>
          </a:p>
        </p:txBody>
      </p:sp>
      <p:sp>
        <p:nvSpPr>
          <p:cNvPr id="14" name="close-two">
            <a:extLst xmlns:a="http://schemas.openxmlformats.org/drawingml/2006/main">
              <a:ext uri="{FF2B5EF4-FFF2-40B4-BE49-F238E27FC236}">
                <a16:creationId xmlns:a16="http://schemas.microsoft.com/office/drawing/2014/main" id="{86358BC1-8176-49B9-B695-2360775E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9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CORRECTION</a:t>
            </a:r>
          </a:p>
        </p:txBody>
      </p:sp>
      <p:sp>
        <p:nvSpPr>
          <p:cNvPr id="15" name="close-two-copy">
            <a:extLst xmlns:a="http://schemas.openxmlformats.org/drawingml/2006/main">
              <a:ext uri="{FF2B5EF4-FFF2-40B4-BE49-F238E27FC236}">
                <a16:creationId xmlns:a16="http://schemas.microsoft.com/office/drawing/2014/main" id="{ADC8CE7E-F06E-49D2-A077-DD623DAB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62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Evidence and inferences remain inspectable.</a:t>
            </a:r>
          </a:p>
        </p:txBody>
      </p:sp>
      <p:sp>
        <p:nvSpPr>
          <p:cNvPr id="16" name="close-three">
            <a:extLst xmlns:a="http://schemas.openxmlformats.org/drawingml/2006/main">
              <a:ext uri="{FF2B5EF4-FFF2-40B4-BE49-F238E27FC236}">
                <a16:creationId xmlns:a16="http://schemas.microsoft.com/office/drawing/2014/main" id="{D4BEFBB5-B385-4A89-B890-63484555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REAL LIFE</a:t>
            </a:r>
          </a:p>
        </p:txBody>
      </p:sp>
      <p:sp>
        <p:nvSpPr>
          <p:cNvPr id="17" name="close-three-copy">
            <a:extLst xmlns:a="http://schemas.openxmlformats.org/drawingml/2006/main">
              <a:ext uri="{FF2B5EF4-FFF2-40B4-BE49-F238E27FC236}">
                <a16:creationId xmlns:a16="http://schemas.microsoft.com/office/drawing/2014/main" id="{15D1B24C-EBA9-466B-B6C1-C71178CE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62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Success happens outside the product.</a:t>
            </a:r>
          </a:p>
        </p:txBody>
      </p:sp>
    </p:spTree>
    <p:extLst>
      <p:ext uri="{BB962C8B-B14F-4D97-AF65-F5344CB8AC3E}">
        <p14:creationId xmlns:p14="http://schemas.microsoft.com/office/powerpoint/2010/main" val="1096341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2026-08-26T20:27:39.5890000Z</dcterms:created>
  <dcterms:modified xsi:type="dcterms:W3CDTF">2026-08-26T20:27:39.5890000Z</dcterms:modified>
</coreProperties>
</file>