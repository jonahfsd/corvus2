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fb603f5fc04ecf" /><Relationship Type="http://schemas.openxmlformats.org/officeDocument/2006/relationships/extended-properties" Target="/docProps/app.xml" Id="Rdd844e5c939c40e1" /><Relationship Type="http://schemas.openxmlformats.org/officeDocument/2006/relationships/officeDocument" Target="/ppt/presentation.xml" Id="Raf7b190faa4545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ca081cb8104af3"/>
  </p:sldMasterIdLst>
  <p:notesMasterIdLst>
    <p:notesMasterId xmlns:r="http://schemas.openxmlformats.org/officeDocument/2006/relationships" r:id="R9e96a8ed75884220"/>
  </p:notesMasterIdLst>
  <p:sldIdLst>
    <p:sldId xmlns:r="http://schemas.openxmlformats.org/officeDocument/2006/relationships" id="256" r:id="R6b68391cf4de4cbe"/>
    <p:sldId xmlns:r="http://schemas.openxmlformats.org/officeDocument/2006/relationships" id="257" r:id="R3092cf404cd54637"/>
    <p:sldId xmlns:r="http://schemas.openxmlformats.org/officeDocument/2006/relationships" id="258" r:id="R8bd4203858ae433b"/>
    <p:sldId xmlns:r="http://schemas.openxmlformats.org/officeDocument/2006/relationships" id="259" r:id="Rcf2065b7336a4045"/>
    <p:sldId xmlns:r="http://schemas.openxmlformats.org/officeDocument/2006/relationships" id="260" r:id="R5a0d13abfef04a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6950fddb3b4c77" /><Relationship Type="http://schemas.openxmlformats.org/officeDocument/2006/relationships/slideMaster" Target="/ppt/slideMasters/slideMaster1.xml" Id="Ra4ca081cb8104af3" /><Relationship Type="http://schemas.openxmlformats.org/officeDocument/2006/relationships/notesMaster" Target="/ppt/notesMasters/notesMaster1.xml" Id="R9e96a8ed75884220" /><Relationship Type="http://schemas.openxmlformats.org/officeDocument/2006/relationships/presProps" Target="/ppt/presProps.xml" Id="Rdc758bce1cfe44b1" /><Relationship Type="http://schemas.openxmlformats.org/officeDocument/2006/relationships/tableStyles" Target="/ppt/tableStyles.xml" Id="Raa7eb824462c42b9" /><Relationship Type="http://schemas.openxmlformats.org/officeDocument/2006/relationships/slide" Target="/ppt/slides/slide1.xml" Id="R6b68391cf4de4cbe" /><Relationship Type="http://schemas.openxmlformats.org/officeDocument/2006/relationships/slide" Target="/ppt/slides/slide2.xml" Id="R3092cf404cd54637" /><Relationship Type="http://schemas.openxmlformats.org/officeDocument/2006/relationships/slide" Target="/ppt/slides/slide3.xml" Id="R8bd4203858ae433b" /><Relationship Type="http://schemas.openxmlformats.org/officeDocument/2006/relationships/slide" Target="/ppt/slides/slide4.xml" Id="Rcf2065b7336a4045" /><Relationship Type="http://schemas.openxmlformats.org/officeDocument/2006/relationships/slide" Target="/ppt/slides/slide5.xml" Id="R5a0d13abfef04a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bfa7bb9e7844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09e9c13e444d65" /><Relationship Type="http://schemas.openxmlformats.org/officeDocument/2006/relationships/notesMaster" Target="/ppt/notesMasters/notesMaster1.xml" Id="R277b2f0b578b44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d6b1b8cb3f4b66" /><Relationship Type="http://schemas.openxmlformats.org/officeDocument/2006/relationships/notesMaster" Target="/ppt/notesMasters/notesMaster1.xml" Id="R5b10b16c63ae4a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089ff10293402f" /><Relationship Type="http://schemas.openxmlformats.org/officeDocument/2006/relationships/notesMaster" Target="/ppt/notesMasters/notesMaster1.xml" Id="Rf8646342e58a4d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c8a22f15c14315" /><Relationship Type="http://schemas.openxmlformats.org/officeDocument/2006/relationships/notesMaster" Target="/ppt/notesMasters/notesMaster1.xml" Id="R08e377f724b94b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a742280db54ed4" /><Relationship Type="http://schemas.openxmlformats.org/officeDocument/2006/relationships/notesMaster" Target="/ppt/notesMasters/notesMaster1.xml" Id="Rdc732c93f9634e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Your behavior is already being modeled. The objective just is not your flourishing.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Technology companies learn which signals predict a click, purchase, or another minute on-screen. I want to turn that system around: a personal model that works for the person.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claim boundary: docs/research/adtech-to-flourishing-evidence-audit.md.</a:t>
            </a:r>
          </a:p>
          <a:p xmlns:a="http://schemas.openxmlformats.org/drawingml/2006/main">
            <a:r>
              <a:t>- Visual direction: https://vercel.com/ (official homepage, accessed 2026-08-26).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with someone who moved to a new city. They meet people and keep saying yes, but still feel disconnected. After a draining night, should they force another event, stay home, or follow up with the one person who felt promising?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Generic advice cannot know. And another chatbot conversation is not the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Scenario is explicitly hypothetical and mirrors the synthetic prototype fixture.</a:t>
            </a:r>
          </a:p>
          <a:p xmlns:a="http://schemas.openxmlformats.org/drawingml/2006/main">
            <a:r>
              <a:t>- Illustration generated for this deck; it does not depict a real participant or outcome.</a:t>
            </a:r>
          </a:p>
          <a:p xmlns:a="http://schemas.openxmlformats.org/drawingml/2006/main">
            <a:r>
              <a:t>- Visual direction: https://vercel.com/ (official homepage, accessed 2026-08-26).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Wayfinder begins with signals the participant chooses: a short reflection, a few relationship events, and optional recovery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language model only turns words into inspectable evidence. A separate model updates an uncertain personal state. Every meaningful inference shows its source and can be corrected.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Working prototype screenshot captured from origin/feat/two-minute-wayfinder-demo; synthetic data is visibly labeled.</a:t>
            </a:r>
          </a:p>
          <a:p xmlns:a="http://schemas.openxmlformats.org/drawingml/2006/main">
            <a:r>
              <a:t>- Product boundary: docs/specs/two-minute-demo-v0.1.md on the demo branch and docs/specs/wayfinder-production-alpha-prd-v0.1.md.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this working prototype, the model notices that interest in connection is intact, but capacity is down. Instead of ‘socialize more,’ it offers one bounded next step: protect tonight, then send a low-pressure coffee invitation tomorrow—in your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Nothing is sent automatically. What happened next becomes new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Working prototype screenshot captured from origin/feat/two-minute-wayfinder-demo; the participant and data are synthetic.</a:t>
            </a:r>
          </a:p>
          <a:p xmlns:a="http://schemas.openxmlformats.org/drawingml/2006/main">
            <a:r>
              <a:t>- Recommendation boundary: docs/specs/two-minute-demo-v0.1.md and docs/specs/wayfinder-production-alpha-prd-v0.1.md.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diagnosis, and the prototype uses synthetic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next milestone is a private longitudinal alpha that remembers consent, corrections, and outcomes across days. The first market is people navigating social transitions and partners who already care about belonging.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goal is not more time with AI. It is stronger human relationships—and less need for the system over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Production-alpha milestone and guardrails: docs/specs/wayfinder-production-alpha-prd-v0.1.md.</a:t>
            </a:r>
          </a:p>
          <a:p xmlns:a="http://schemas.openxmlformats.org/drawingml/2006/main">
            <a:r>
              <a:t>- Market and channel language is explicitly a hypothesis; it has not been validated.</a:t>
            </a:r>
          </a:p>
          <a:p xmlns:a="http://schemas.openxmlformats.org/drawingml/2006/main">
            <a:r>
              <a:t>- Visual direction: https://vercel.com/ (official homepage, accessed 2026-08-26).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cc68ab9bf640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7dd57cced14332" /><Relationship Type="http://schemas.openxmlformats.org/officeDocument/2006/relationships/slideLayout" Target="/ppt/slideLayouts/slideLayout1.xml" Id="R9b1057850d7a45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1057850d7a45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37ba9a0f940d5" /><Relationship Type="http://schemas.openxmlformats.org/officeDocument/2006/relationships/notesSlide" Target="/ppt/notesSlides/notesSlide1.xml" Id="R8b7fa2fa554949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d6de948cc4918" /><Relationship Type="http://schemas.openxmlformats.org/officeDocument/2006/relationships/image" Target="/ppt/media/image.png" Id="R6ba02264515b4c6d" /><Relationship Type="http://schemas.openxmlformats.org/officeDocument/2006/relationships/notesSlide" Target="/ppt/notesSlides/notesSlide2.xml" Id="R22e032db9fb849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2d2588861488d" /><Relationship Type="http://schemas.openxmlformats.org/officeDocument/2006/relationships/image" Target="/ppt/media/image.jpeg" Id="R6e0667d62d204405" /><Relationship Type="http://schemas.openxmlformats.org/officeDocument/2006/relationships/notesSlide" Target="/ppt/notesSlides/notesSlide3.xml" Id="R7280c1a7b84143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9a34108d54895" /><Relationship Type="http://schemas.openxmlformats.org/officeDocument/2006/relationships/image" Target="/ppt/media/image2.jpeg" Id="R2b758c3adb914738" /><Relationship Type="http://schemas.openxmlformats.org/officeDocument/2006/relationships/notesSlide" Target="/ppt/notesSlides/notesSlide4.xml" Id="Rdd476ef3c5d444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e6f874e584d8f" /><Relationship Type="http://schemas.openxmlformats.org/officeDocument/2006/relationships/notesSlide" Target="/ppt/notesSlides/notesSlide5.xml" Id="R32d4590402604e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1">
            <a:extLst xmlns:a="http://schemas.openxmlformats.org/drawingml/2006/main">
              <a:ext uri="{FF2B5EF4-FFF2-40B4-BE49-F238E27FC236}">
                <a16:creationId xmlns:a16="http://schemas.microsoft.com/office/drawing/2014/main" id="{D662621B-7494-4E0B-998D-AF8DB4B9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OSANWE / WAYFINDER</a:t>
            </a:r>
          </a:p>
        </p:txBody>
      </p:sp>
      <p:sp>
        <p:nvSpPr>
          <p:cNvPr id="2" name="round-1">
            <a:extLst xmlns:a="http://schemas.openxmlformats.org/drawingml/2006/main">
              <a:ext uri="{FF2B5EF4-FFF2-40B4-BE49-F238E27FC236}">
                <a16:creationId xmlns:a16="http://schemas.microsoft.com/office/drawing/2014/main" id="{7619B49E-5D77-437A-8597-2E9CAD62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1">
            <a:extLst xmlns:a="http://schemas.openxmlformats.org/drawingml/2006/main">
              <a:ext uri="{FF2B5EF4-FFF2-40B4-BE49-F238E27FC236}">
                <a16:creationId xmlns:a16="http://schemas.microsoft.com/office/drawing/2014/main" id="{8DE093CC-0A74-436C-A273-E17135AD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1">
            <a:extLst xmlns:a="http://schemas.openxmlformats.org/drawingml/2006/main">
              <a:ext uri="{FF2B5EF4-FFF2-40B4-BE49-F238E27FC236}">
                <a16:creationId xmlns:a16="http://schemas.microsoft.com/office/drawing/2014/main" id="{544287BB-3ED8-4C89-AE78-A0BB0C83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1">
            <a:extLst xmlns:a="http://schemas.openxmlformats.org/drawingml/2006/main">
              <a:ext uri="{FF2B5EF4-FFF2-40B4-BE49-F238E27FC236}">
                <a16:creationId xmlns:a16="http://schemas.microsoft.com/office/drawing/2014/main" id="{DBFA17E5-F47B-4C9B-A1AF-262A8A5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1">
            <a:extLst xmlns:a="http://schemas.openxmlformats.org/drawingml/2006/main">
              <a:ext uri="{FF2B5EF4-FFF2-40B4-BE49-F238E27FC236}">
                <a16:creationId xmlns:a16="http://schemas.microsoft.com/office/drawing/2014/main" id="{E1B26BCF-14FC-4C38-9CC2-5A9763FE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1">
            <a:extLst xmlns:a="http://schemas.openxmlformats.org/drawingml/2006/main">
              <a:ext uri="{FF2B5EF4-FFF2-40B4-BE49-F238E27FC236}">
                <a16:creationId xmlns:a16="http://schemas.microsoft.com/office/drawing/2014/main" id="{747F115C-C625-4580-A8B2-199AC635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1">
            <a:extLst xmlns:a="http://schemas.openxmlformats.org/drawingml/2006/main">
              <a:ext uri="{FF2B5EF4-FFF2-40B4-BE49-F238E27FC236}">
                <a16:creationId xmlns:a16="http://schemas.microsoft.com/office/drawing/2014/main" id="{F0553739-008D-440E-876A-717138BA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hesis-kicker">
            <a:extLst xmlns:a="http://schemas.openxmlformats.org/drawingml/2006/main">
              <a:ext uri="{FF2B5EF4-FFF2-40B4-BE49-F238E27FC236}">
                <a16:creationId xmlns:a16="http://schemas.microsoft.com/office/drawing/2014/main" id="{96EE5D73-853E-4BBD-98DA-D4894389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1A1A1"/>
                </a:solidFill>
                <a:latin typeface="Arial"/>
                <a:ea typeface="Arial"/>
                <a:cs typeface="Arial"/>
              </a:rPr>
              <a:t>PARTICIPANT-OWNED PERSONALIZATION</a:t>
            </a:r>
          </a:p>
        </p:txBody>
      </p:sp>
      <p:sp>
        <p:nvSpPr>
          <p:cNvPr id="10" name="thesis-title">
            <a:extLst xmlns:a="http://schemas.openxmlformats.org/drawingml/2006/main">
              <a:ext uri="{FF2B5EF4-FFF2-40B4-BE49-F238E27FC236}">
                <a16:creationId xmlns:a16="http://schemas.microsoft.com/office/drawing/2014/main" id="{964C59DC-022F-4BA5-8802-455BDD4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10382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behavior is already</a:t>
            </a:r>
          </a:p>
          <a:p xmlns:a="http://schemas.openxmlformats.org/drawingml/2006/main">
            <a:pPr algn="l"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being modeled.</a:t>
            </a:r>
          </a:p>
        </p:txBody>
      </p:sp>
      <p:sp>
        <p:nvSpPr>
          <p:cNvPr id="11" name="thesis-subtitle">
            <a:extLst xmlns:a="http://schemas.openxmlformats.org/drawingml/2006/main">
              <a:ext uri="{FF2B5EF4-FFF2-40B4-BE49-F238E27FC236}">
                <a16:creationId xmlns:a16="http://schemas.microsoft.com/office/drawing/2014/main" id="{29939A14-B880-4195-9646-0F79DC85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objective just is not </a:t>
            </a:r>
            <a:r>
              <a:rPr sz="3150" b="0">
                <a:solidFill>
                  <a:srgbClr val="65D49A"/>
                </a:solidFill>
                <a:latin typeface="Arial"/>
                <a:ea typeface="Arial"/>
                <a:cs typeface="Arial"/>
              </a:rPr>
              <a:t>your flourishing</a:t>
            </a:r>
            <a:r>
              <a:rPr sz="31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under-line">
            <a:extLst xmlns:a="http://schemas.openxmlformats.org/drawingml/2006/main">
              <a:ext uri="{FF2B5EF4-FFF2-40B4-BE49-F238E27FC236}">
                <a16:creationId xmlns:a16="http://schemas.microsoft.com/office/drawing/2014/main" id="{4C8661A1-BD22-4476-A907-D4C491F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340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JONAH ELLIOTT  /  TWO-MINUTE PITCH</a:t>
            </a:r>
          </a:p>
        </p:txBody>
      </p:sp>
    </p:spTree>
    <p:extLst>
      <p:ext uri="{BB962C8B-B14F-4D97-AF65-F5344CB8AC3E}">
        <p14:creationId xmlns:p14="http://schemas.microsoft.com/office/powerpoint/2010/main" val="7160927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brand-2">
            <a:extLst xmlns:a="http://schemas.openxmlformats.org/drawingml/2006/main">
              <a:ext uri="{FF2B5EF4-FFF2-40B4-BE49-F238E27FC236}">
                <a16:creationId xmlns:a16="http://schemas.microsoft.com/office/drawing/2014/main" id="{D7051D99-7F00-40E3-B429-AE32369C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OSANWE / WAYFINDER</a:t>
            </a:r>
          </a:p>
        </p:txBody>
      </p:sp>
      <p:sp>
        <p:nvSpPr>
          <p:cNvPr id="2" name="round-2">
            <a:extLst xmlns:a="http://schemas.openxmlformats.org/drawingml/2006/main">
              <a:ext uri="{FF2B5EF4-FFF2-40B4-BE49-F238E27FC236}">
                <a16:creationId xmlns:a16="http://schemas.microsoft.com/office/drawing/2014/main" id="{BE011543-B5AB-45AA-B844-F875940B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2">
            <a:extLst xmlns:a="http://schemas.openxmlformats.org/drawingml/2006/main">
              <a:ext uri="{FF2B5EF4-FFF2-40B4-BE49-F238E27FC236}">
                <a16:creationId xmlns:a16="http://schemas.microsoft.com/office/drawing/2014/main" id="{396DF957-A8C7-49AC-BAE3-958FDBC5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2">
            <a:extLst xmlns:a="http://schemas.openxmlformats.org/drawingml/2006/main">
              <a:ext uri="{FF2B5EF4-FFF2-40B4-BE49-F238E27FC236}">
                <a16:creationId xmlns:a16="http://schemas.microsoft.com/office/drawing/2014/main" id="{8D51CE1C-3BF4-46F9-A35E-65FE6084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2">
            <a:extLst xmlns:a="http://schemas.openxmlformats.org/drawingml/2006/main">
              <a:ext uri="{FF2B5EF4-FFF2-40B4-BE49-F238E27FC236}">
                <a16:creationId xmlns:a16="http://schemas.microsoft.com/office/drawing/2014/main" id="{F3A88BBC-ECA8-430A-AAC3-873FA03A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2">
            <a:extLst xmlns:a="http://schemas.openxmlformats.org/drawingml/2006/main">
              <a:ext uri="{FF2B5EF4-FFF2-40B4-BE49-F238E27FC236}">
                <a16:creationId xmlns:a16="http://schemas.microsoft.com/office/drawing/2014/main" id="{E013166A-97C0-458D-801F-51362263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2">
            <a:extLst xmlns:a="http://schemas.openxmlformats.org/drawingml/2006/main">
              <a:ext uri="{FF2B5EF4-FFF2-40B4-BE49-F238E27FC236}">
                <a16:creationId xmlns:a16="http://schemas.microsoft.com/office/drawing/2014/main" id="{FD468988-D43A-4DA5-848C-68C40B45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2">
            <a:extLst xmlns:a="http://schemas.openxmlformats.org/drawingml/2006/main">
              <a:ext uri="{FF2B5EF4-FFF2-40B4-BE49-F238E27FC236}">
                <a16:creationId xmlns:a16="http://schemas.microsoft.com/office/drawing/2014/main" id="{AD8098AA-5BFF-4CFF-BADE-8E8EAB2E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390833B5-6799-4CB3-BD3F-4801ADE1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More plans are not the same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 more connection.</a:t>
            </a:r>
          </a:p>
        </p:txBody>
      </p:sp>
      <p:sp>
        <p:nvSpPr>
          <p:cNvPr id="10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C93228B2-61C2-4642-A861-4D67789C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47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New city. More invitations.</a:t>
            </a:r>
          </a:p>
          <a:p xmlns:a="http://schemas.openxmlformats.org/drawingml/2006/main">
            <a:pPr algn="l">
              <a:defRPr sz="210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Still unsure what will actually help.</a:t>
            </a:r>
          </a:p>
        </p:txBody>
      </p:sp>
      <p:sp>
        <p:nvSpPr>
          <p:cNvPr id="11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6DD737C0-34FA-4C70-B21E-3B58E969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D49A"/>
          </a:solidFill>
          <a:ln xmlns:a="http://schemas.openxmlformats.org/drawingml/2006/main" w="0">
            <a:solidFill>
              <a:srgbClr val="65D49A"/>
            </a:solidFill>
            <a:prstDash val="solid"/>
          </a:ln>
        </p:spPr>
      </p:sp>
      <p:sp>
        <p:nvSpPr>
          <p:cNvPr id="12" name="problem-outcome">
            <a:extLst xmlns:a="http://schemas.openxmlformats.org/drawingml/2006/main">
              <a:ext uri="{FF2B5EF4-FFF2-40B4-BE49-F238E27FC236}">
                <a16:creationId xmlns:a16="http://schemas.microsoft.com/office/drawing/2014/main" id="{B982973F-769C-4B15-99A5-B9F852FE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4572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The outcome is not another chat.</a:t>
            </a:r>
          </a:p>
          <a:p xmlns:a="http://schemas.openxmlformats.org/drawingml/2006/main">
            <a:pPr algn="l">
              <a:defRPr sz="157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It is a better decision in real life.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02264515b4c6d"/>
          <a:srcRect xmlns:a="http://schemas.openxmlformats.org/drawingml/2006/main" l="22485" t="0" r="224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914400"/>
            <a:ext cx="5029200" cy="5143500"/>
          </a:xfrm>
          <a:prstGeom xmlns:a="http://schemas.openxmlformats.org/drawingml/2006/main" prst="rect">
            <a:avLst/>
          </a:prstGeom>
        </p:spPr>
      </p:pic>
      <p:sp>
        <p:nvSpPr>
          <p:cNvPr id="14" name="story-frame">
            <a:extLst xmlns:a="http://schemas.openxmlformats.org/drawingml/2006/main">
              <a:ext uri="{FF2B5EF4-FFF2-40B4-BE49-F238E27FC236}">
                <a16:creationId xmlns:a16="http://schemas.microsoft.com/office/drawing/2014/main" id="{FA2D41BF-17D5-4EC2-9BC8-A7C48E1D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904875"/>
            <a:ext cx="5048250" cy="516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3A3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82978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3">
            <a:extLst xmlns:a="http://schemas.openxmlformats.org/drawingml/2006/main">
              <a:ext uri="{FF2B5EF4-FFF2-40B4-BE49-F238E27FC236}">
                <a16:creationId xmlns:a16="http://schemas.microsoft.com/office/drawing/2014/main" id="{BCE8AA36-B5E0-4761-AD18-3A736768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OSANWE / WAYFINDER</a:t>
            </a:r>
          </a:p>
        </p:txBody>
      </p:sp>
      <p:sp>
        <p:nvSpPr>
          <p:cNvPr id="2" name="round-3">
            <a:extLst xmlns:a="http://schemas.openxmlformats.org/drawingml/2006/main">
              <a:ext uri="{FF2B5EF4-FFF2-40B4-BE49-F238E27FC236}">
                <a16:creationId xmlns:a16="http://schemas.microsoft.com/office/drawing/2014/main" id="{E7FCCF19-3BBC-4053-99D0-86AC2675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3">
            <a:extLst xmlns:a="http://schemas.openxmlformats.org/drawingml/2006/main">
              <a:ext uri="{FF2B5EF4-FFF2-40B4-BE49-F238E27FC236}">
                <a16:creationId xmlns:a16="http://schemas.microsoft.com/office/drawing/2014/main" id="{4624381B-2059-4CD7-9344-CA0DB3C8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3">
            <a:extLst xmlns:a="http://schemas.openxmlformats.org/drawingml/2006/main">
              <a:ext uri="{FF2B5EF4-FFF2-40B4-BE49-F238E27FC236}">
                <a16:creationId xmlns:a16="http://schemas.microsoft.com/office/drawing/2014/main" id="{11D7EE24-2E41-49DC-8821-C7FC5B1F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3">
            <a:extLst xmlns:a="http://schemas.openxmlformats.org/drawingml/2006/main">
              <a:ext uri="{FF2B5EF4-FFF2-40B4-BE49-F238E27FC236}">
                <a16:creationId xmlns:a16="http://schemas.microsoft.com/office/drawing/2014/main" id="{DA3B6609-3E62-47F4-911A-5EE8663B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3">
            <a:extLst xmlns:a="http://schemas.openxmlformats.org/drawingml/2006/main">
              <a:ext uri="{FF2B5EF4-FFF2-40B4-BE49-F238E27FC236}">
                <a16:creationId xmlns:a16="http://schemas.microsoft.com/office/drawing/2014/main" id="{DB8383FF-1369-401B-98ED-D4CDFFDA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3">
            <a:extLst xmlns:a="http://schemas.openxmlformats.org/drawingml/2006/main">
              <a:ext uri="{FF2B5EF4-FFF2-40B4-BE49-F238E27FC236}">
                <a16:creationId xmlns:a16="http://schemas.microsoft.com/office/drawing/2014/main" id="{B2E3F309-0E44-499C-9C14-73E7BCBF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3">
            <a:extLst xmlns:a="http://schemas.openxmlformats.org/drawingml/2006/main">
              <a:ext uri="{FF2B5EF4-FFF2-40B4-BE49-F238E27FC236}">
                <a16:creationId xmlns:a16="http://schemas.microsoft.com/office/drawing/2014/main" id="{8BA90A62-2127-45E6-BADA-F202A7D6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input-kicker">
            <a:extLst xmlns:a="http://schemas.openxmlformats.org/drawingml/2006/main">
              <a:ext uri="{FF2B5EF4-FFF2-40B4-BE49-F238E27FC236}">
                <a16:creationId xmlns:a16="http://schemas.microsoft.com/office/drawing/2014/main" id="{EB2C92A2-A34D-4E1F-B93B-E977A8A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71550"/>
            <a:ext cx="457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5D4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5D49A"/>
                </a:solidFill>
                <a:latin typeface="Arial"/>
                <a:ea typeface="Arial"/>
                <a:cs typeface="Arial"/>
              </a:rPr>
              <a:t>WORKING PROTOTYPE / SYNTHETIC SCENARIO</a:t>
            </a:r>
          </a:p>
        </p:txBody>
      </p:sp>
      <p:sp>
        <p:nvSpPr>
          <p:cNvPr id="10" name="input-title">
            <a:extLst xmlns:a="http://schemas.openxmlformats.org/drawingml/2006/main">
              <a:ext uri="{FF2B5EF4-FFF2-40B4-BE49-F238E27FC236}">
                <a16:creationId xmlns:a16="http://schemas.microsoft.com/office/drawing/2014/main" id="{EE68967E-8C61-4726-AF6D-600F7F3F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4572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Wayfinder starts with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signals you choose.</a:t>
            </a:r>
          </a:p>
        </p:txBody>
      </p:sp>
      <p:sp>
        <p:nvSpPr>
          <p:cNvPr id="11" name="input-copy">
            <a:extLst xmlns:a="http://schemas.openxmlformats.org/drawingml/2006/main">
              <a:ext uri="{FF2B5EF4-FFF2-40B4-BE49-F238E27FC236}">
                <a16:creationId xmlns:a16="http://schemas.microsoft.com/office/drawing/2014/main" id="{038B2A36-BFC3-499F-A689-FDFB500A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Reflection. Relationship events.</a:t>
            </a:r>
          </a:p>
          <a:p xmlns:a="http://schemas.openxmlformats.org/drawingml/2006/main">
            <a:pPr algn="l">
              <a:defRPr sz="19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Optional recovery data.</a:t>
            </a:r>
          </a:p>
        </p:txBody>
      </p:sp>
      <p:sp>
        <p:nvSpPr>
          <p:cNvPr id="12" name="input-accent">
            <a:extLst xmlns:a="http://schemas.openxmlformats.org/drawingml/2006/main">
              <a:ext uri="{FF2B5EF4-FFF2-40B4-BE49-F238E27FC236}">
                <a16:creationId xmlns:a16="http://schemas.microsoft.com/office/drawing/2014/main" id="{03C018AA-EE3A-4CB6-BE58-3272F5AB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D49A"/>
          </a:solidFill>
          <a:ln xmlns:a="http://schemas.openxmlformats.org/drawingml/2006/main" w="0">
            <a:solidFill>
              <a:srgbClr val="65D49A"/>
            </a:solidFill>
            <a:prstDash val="solid"/>
          </a:ln>
        </p:spPr>
      </p:sp>
      <p:sp>
        <p:nvSpPr>
          <p:cNvPr id="13" name="input-boundary">
            <a:extLst xmlns:a="http://schemas.openxmlformats.org/drawingml/2006/main">
              <a:ext uri="{FF2B5EF4-FFF2-40B4-BE49-F238E27FC236}">
                <a16:creationId xmlns:a16="http://schemas.microsoft.com/office/drawing/2014/main" id="{B27A89B7-5FD1-4A45-ADD9-E78B3C1D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The LLM proposes evidence.</a:t>
            </a:r>
          </a:p>
          <a:p xmlns:a="http://schemas.openxmlformats.org/drawingml/2006/main">
            <a:pPr algn="l"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The participant can inspect and correct it.</a:t>
            </a:r>
          </a:p>
        </p:txBody>
      </p:sp>
      <p:sp>
        <p:nvSpPr>
          <p:cNvPr id="14" name="input-screen-backing">
            <a:extLst xmlns:a="http://schemas.openxmlformats.org/drawingml/2006/main">
              <a:ext uri="{FF2B5EF4-FFF2-40B4-BE49-F238E27FC236}">
                <a16:creationId xmlns:a16="http://schemas.microsoft.com/office/drawing/2014/main" id="{49A772E4-9C0D-4AE1-9B9D-6E49E40C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981075"/>
            <a:ext cx="5695950" cy="508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3A3A3A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667d62d204405"/>
          <a:srcRect xmlns:a="http://schemas.openxmlformats.org/drawingml/2006/main" l="0" t="2543" r="0" b="25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53100" y="990600"/>
            <a:ext cx="5676900" cy="5067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3242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4">
            <a:extLst xmlns:a="http://schemas.openxmlformats.org/drawingml/2006/main">
              <a:ext uri="{FF2B5EF4-FFF2-40B4-BE49-F238E27FC236}">
                <a16:creationId xmlns:a16="http://schemas.microsoft.com/office/drawing/2014/main" id="{B9FFC7BC-AB3F-481D-B216-91716F0D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OSANWE / WAYFINDER</a:t>
            </a:r>
          </a:p>
        </p:txBody>
      </p:sp>
      <p:sp>
        <p:nvSpPr>
          <p:cNvPr id="2" name="round-4">
            <a:extLst xmlns:a="http://schemas.openxmlformats.org/drawingml/2006/main">
              <a:ext uri="{FF2B5EF4-FFF2-40B4-BE49-F238E27FC236}">
                <a16:creationId xmlns:a16="http://schemas.microsoft.com/office/drawing/2014/main" id="{ACF6D306-EA22-465B-9E7C-9CBFD5B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4">
            <a:extLst xmlns:a="http://schemas.openxmlformats.org/drawingml/2006/main">
              <a:ext uri="{FF2B5EF4-FFF2-40B4-BE49-F238E27FC236}">
                <a16:creationId xmlns:a16="http://schemas.microsoft.com/office/drawing/2014/main" id="{5B7AE2B1-5F8B-4C2A-ABF2-4C294561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4">
            <a:extLst xmlns:a="http://schemas.openxmlformats.org/drawingml/2006/main">
              <a:ext uri="{FF2B5EF4-FFF2-40B4-BE49-F238E27FC236}">
                <a16:creationId xmlns:a16="http://schemas.microsoft.com/office/drawing/2014/main" id="{17A3BBDC-0D56-47F1-BA81-8CE51615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4">
            <a:extLst xmlns:a="http://schemas.openxmlformats.org/drawingml/2006/main">
              <a:ext uri="{FF2B5EF4-FFF2-40B4-BE49-F238E27FC236}">
                <a16:creationId xmlns:a16="http://schemas.microsoft.com/office/drawing/2014/main" id="{91BB188E-E349-40AF-BD60-8C1E6566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4">
            <a:extLst xmlns:a="http://schemas.openxmlformats.org/drawingml/2006/main">
              <a:ext uri="{FF2B5EF4-FFF2-40B4-BE49-F238E27FC236}">
                <a16:creationId xmlns:a16="http://schemas.microsoft.com/office/drawing/2014/main" id="{BD328320-0D67-4617-80F3-1DA42E41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4">
            <a:extLst xmlns:a="http://schemas.openxmlformats.org/drawingml/2006/main">
              <a:ext uri="{FF2B5EF4-FFF2-40B4-BE49-F238E27FC236}">
                <a16:creationId xmlns:a16="http://schemas.microsoft.com/office/drawing/2014/main" id="{0BFB3843-7388-473E-A2AE-6AB18921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4">
            <a:extLst xmlns:a="http://schemas.openxmlformats.org/drawingml/2006/main">
              <a:ext uri="{FF2B5EF4-FFF2-40B4-BE49-F238E27FC236}">
                <a16:creationId xmlns:a16="http://schemas.microsoft.com/office/drawing/2014/main" id="{47080BD6-AE6A-46D0-81A3-3C63679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output-kicker">
            <a:extLst xmlns:a="http://schemas.openxmlformats.org/drawingml/2006/main">
              <a:ext uri="{FF2B5EF4-FFF2-40B4-BE49-F238E27FC236}">
                <a16:creationId xmlns:a16="http://schemas.microsoft.com/office/drawing/2014/main" id="{0A8259BC-A857-47A9-9189-41DAC059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71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5D4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5D49A"/>
                </a:solidFill>
                <a:latin typeface="Arial"/>
                <a:ea typeface="Arial"/>
                <a:cs typeface="Arial"/>
              </a:rPr>
              <a:t>ONE CORRECTABLE EXPLANATION</a:t>
            </a:r>
          </a:p>
        </p:txBody>
      </p:sp>
      <p:sp>
        <p:nvSpPr>
          <p:cNvPr id="10" name="output-title">
            <a:extLst xmlns:a="http://schemas.openxmlformats.org/drawingml/2006/main">
              <a:ext uri="{FF2B5EF4-FFF2-40B4-BE49-F238E27FC236}">
                <a16:creationId xmlns:a16="http://schemas.microsoft.com/office/drawing/2014/main" id="{F47525EA-91F7-4D2A-8766-B9776FB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4191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Capacity,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avoidance.</a:t>
            </a:r>
          </a:p>
        </p:txBody>
      </p:sp>
      <p:sp>
        <p:nvSpPr>
          <p:cNvPr id="11" name="output-action">
            <a:extLst xmlns:a="http://schemas.openxmlformats.org/drawingml/2006/main">
              <a:ext uri="{FF2B5EF4-FFF2-40B4-BE49-F238E27FC236}">
                <a16:creationId xmlns:a16="http://schemas.microsoft.com/office/drawing/2014/main" id="{D53125D5-C4E5-4D0C-90D7-98A55A1F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419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Protect tonight.</a:t>
            </a:r>
          </a:p>
          <a:p xmlns:a="http://schemas.openxmlformats.org/drawingml/2006/main">
            <a:pPr algn="l">
              <a:defRPr sz="2250" b="0">
                <a:solidFill>
                  <a:srgbClr val="EDEDE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EDED"/>
                </a:solidFill>
                <a:latin typeface="Arial"/>
                <a:ea typeface="Arial"/>
                <a:cs typeface="Arial"/>
              </a:rPr>
              <a:t>Keep tomorrow warm.</a:t>
            </a:r>
          </a:p>
        </p:txBody>
      </p:sp>
      <p:sp>
        <p:nvSpPr>
          <p:cNvPr id="12" name="output-accent">
            <a:extLst xmlns:a="http://schemas.openxmlformats.org/drawingml/2006/main">
              <a:ext uri="{FF2B5EF4-FFF2-40B4-BE49-F238E27FC236}">
                <a16:creationId xmlns:a16="http://schemas.microsoft.com/office/drawing/2014/main" id="{145FDA0B-C439-479F-A01C-7A70B8F3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D49A"/>
          </a:solidFill>
          <a:ln xmlns:a="http://schemas.openxmlformats.org/drawingml/2006/main" w="0">
            <a:solidFill>
              <a:srgbClr val="65D49A"/>
            </a:solidFill>
            <a:prstDash val="solid"/>
          </a:ln>
        </p:spPr>
      </p:sp>
      <p:sp>
        <p:nvSpPr>
          <p:cNvPr id="13" name="output-control">
            <a:extLst xmlns:a="http://schemas.openxmlformats.org/drawingml/2006/main">
              <a:ext uri="{FF2B5EF4-FFF2-40B4-BE49-F238E27FC236}">
                <a16:creationId xmlns:a16="http://schemas.microsoft.com/office/drawing/2014/main" id="{18A7CBAC-C298-43F6-B690-42151F0E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4191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One bounded next step.</a:t>
            </a:r>
          </a:p>
          <a:p xmlns:a="http://schemas.openxmlformats.org/drawingml/2006/main">
            <a:pPr algn="l">
              <a:defRPr sz="150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Nothing is sent automatically.</a:t>
            </a:r>
          </a:p>
        </p:txBody>
      </p:sp>
      <p:sp>
        <p:nvSpPr>
          <p:cNvPr id="14" name="recommendation-screen-backing">
            <a:extLst xmlns:a="http://schemas.openxmlformats.org/drawingml/2006/main">
              <a:ext uri="{FF2B5EF4-FFF2-40B4-BE49-F238E27FC236}">
                <a16:creationId xmlns:a16="http://schemas.microsoft.com/office/drawing/2014/main" id="{D3428881-CADB-49AA-97E9-63FF0CEB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981075"/>
            <a:ext cx="6115050" cy="508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3A3A3A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58c3adb914738"/>
          <a:srcRect xmlns:a="http://schemas.openxmlformats.org/drawingml/2006/main" l="0" t="5805" r="0" b="58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0" y="990600"/>
            <a:ext cx="6096000" cy="5067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8887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5">
            <a:extLst xmlns:a="http://schemas.openxmlformats.org/drawingml/2006/main">
              <a:ext uri="{FF2B5EF4-FFF2-40B4-BE49-F238E27FC236}">
                <a16:creationId xmlns:a16="http://schemas.microsoft.com/office/drawing/2014/main" id="{94B60072-7B70-4FB1-BE93-CA26EDEA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OSANWE / WAYFINDER</a:t>
            </a:r>
          </a:p>
        </p:txBody>
      </p:sp>
      <p:sp>
        <p:nvSpPr>
          <p:cNvPr id="2" name="round-5">
            <a:extLst xmlns:a="http://schemas.openxmlformats.org/drawingml/2006/main">
              <a:ext uri="{FF2B5EF4-FFF2-40B4-BE49-F238E27FC236}">
                <a16:creationId xmlns:a16="http://schemas.microsoft.com/office/drawing/2014/main" id="{B9183CCC-64DC-4446-B4E9-C94DB3CF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ACU / ROUND 2</a:t>
            </a:r>
          </a:p>
        </p:txBody>
      </p:sp>
      <p:sp>
        <p:nvSpPr>
          <p:cNvPr id="3" name="top-rule-5">
            <a:extLst xmlns:a="http://schemas.openxmlformats.org/drawingml/2006/main">
              <a:ext uri="{FF2B5EF4-FFF2-40B4-BE49-F238E27FC236}">
                <a16:creationId xmlns:a16="http://schemas.microsoft.com/office/drawing/2014/main" id="{76EBB586-50FE-4EEA-97F6-0BF5F448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4" name="left-grid-5">
            <a:extLst xmlns:a="http://schemas.openxmlformats.org/drawingml/2006/main">
              <a:ext uri="{FF2B5EF4-FFF2-40B4-BE49-F238E27FC236}">
                <a16:creationId xmlns:a16="http://schemas.microsoft.com/office/drawing/2014/main" id="{0BCC94AE-1A54-46BC-8AF4-BB52CC7B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5" name="center-grid-5">
            <a:extLst xmlns:a="http://schemas.openxmlformats.org/drawingml/2006/main">
              <a:ext uri="{FF2B5EF4-FFF2-40B4-BE49-F238E27FC236}">
                <a16:creationId xmlns:a16="http://schemas.microsoft.com/office/drawing/2014/main" id="{AB7CB0BA-F704-425E-865D-F584D6AD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6" name="right-grid-5">
            <a:extLst xmlns:a="http://schemas.openxmlformats.org/drawingml/2006/main">
              <a:ext uri="{FF2B5EF4-FFF2-40B4-BE49-F238E27FC236}">
                <a16:creationId xmlns:a16="http://schemas.microsoft.com/office/drawing/2014/main" id="{E1D743CF-645A-4466-8BA9-AA8536C1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09600"/>
            <a:ext cx="9525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7" name="bottom-rule-5">
            <a:extLst xmlns:a="http://schemas.openxmlformats.org/drawingml/2006/main">
              <a:ext uri="{FF2B5EF4-FFF2-40B4-BE49-F238E27FC236}">
                <a16:creationId xmlns:a16="http://schemas.microsoft.com/office/drawing/2014/main" id="{007CE19B-D928-4E14-8DDC-F3A19196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8" name="page-5">
            <a:extLst xmlns:a="http://schemas.openxmlformats.org/drawingml/2006/main">
              <a:ext uri="{FF2B5EF4-FFF2-40B4-BE49-F238E27FC236}">
                <a16:creationId xmlns:a16="http://schemas.microsoft.com/office/drawing/2014/main" id="{7009B9A1-4B0F-406E-91DC-5DB533FB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960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B41EE699-767F-47CD-8965-59CA113E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1A1A1"/>
                </a:solidFill>
                <a:latin typeface="Arial"/>
                <a:ea typeface="Arial"/>
                <a:cs typeface="Arial"/>
              </a:rPr>
              <a:t>NEXT / PRIVATE LONGITUDINAL ALPHA</a:t>
            </a:r>
          </a:p>
        </p:txBody>
      </p:sp>
      <p:sp>
        <p:nvSpPr>
          <p:cNvPr id="10" name="close-title">
            <a:extLst xmlns:a="http://schemas.openxmlformats.org/drawingml/2006/main">
              <a:ext uri="{FF2B5EF4-FFF2-40B4-BE49-F238E27FC236}">
                <a16:creationId xmlns:a16="http://schemas.microsoft.com/office/drawing/2014/main" id="{8138D656-3C9B-4F85-A390-86953596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2870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More </a:t>
            </a:r>
            <a:r>
              <a:rPr sz="5250" b="1">
                <a:solidFill>
                  <a:srgbClr val="65D49A"/>
                </a:solidFill>
                <a:latin typeface="Arial"/>
                <a:ea typeface="Arial"/>
                <a:cs typeface="Arial"/>
              </a:rPr>
              <a:t>human connection</a:t>
            </a: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Less AI dependence.</a:t>
            </a:r>
          </a:p>
        </p:txBody>
      </p:sp>
      <p:sp>
        <p:nvSpPr>
          <p:cNvPr id="11" name="close-rule">
            <a:extLst xmlns:a="http://schemas.openxmlformats.org/drawingml/2006/main">
              <a:ext uri="{FF2B5EF4-FFF2-40B4-BE49-F238E27FC236}">
                <a16:creationId xmlns:a16="http://schemas.microsoft.com/office/drawing/2014/main" id="{75AC6DA2-BCC5-4DA4-AE55-82340631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solidFill>
              <a:srgbClr val="262626"/>
            </a:solidFill>
            <a:prstDash val="solid"/>
          </a:ln>
        </p:spPr>
      </p:sp>
      <p:sp>
        <p:nvSpPr>
          <p:cNvPr id="12" name="close-one">
            <a:extLst xmlns:a="http://schemas.openxmlformats.org/drawingml/2006/main">
              <a:ext uri="{FF2B5EF4-FFF2-40B4-BE49-F238E27FC236}">
                <a16:creationId xmlns:a16="http://schemas.microsoft.com/office/drawing/2014/main" id="{59EEC0C7-A9AC-4F37-9647-8CBC161A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96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 CONSENT</a:t>
            </a:r>
          </a:p>
        </p:txBody>
      </p:sp>
      <p:sp>
        <p:nvSpPr>
          <p:cNvPr id="13" name="close-one-copy">
            <a:extLst xmlns:a="http://schemas.openxmlformats.org/drawingml/2006/main">
              <a:ext uri="{FF2B5EF4-FFF2-40B4-BE49-F238E27FC236}">
                <a16:creationId xmlns:a16="http://schemas.microsoft.com/office/drawing/2014/main" id="{D3CEDA7B-DAED-481F-972C-565FEFC4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625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Every source chosen and revocable.</a:t>
            </a:r>
          </a:p>
        </p:txBody>
      </p:sp>
      <p:sp>
        <p:nvSpPr>
          <p:cNvPr id="14" name="close-two">
            <a:extLst xmlns:a="http://schemas.openxmlformats.org/drawingml/2006/main">
              <a:ext uri="{FF2B5EF4-FFF2-40B4-BE49-F238E27FC236}">
                <a16:creationId xmlns:a16="http://schemas.microsoft.com/office/drawing/2014/main" id="{AFC7BBA9-0574-4778-966A-A54EC01B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196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 CORRECTION</a:t>
            </a:r>
          </a:p>
        </p:txBody>
      </p:sp>
      <p:sp>
        <p:nvSpPr>
          <p:cNvPr id="15" name="close-two-copy">
            <a:extLst xmlns:a="http://schemas.openxmlformats.org/drawingml/2006/main">
              <a:ext uri="{FF2B5EF4-FFF2-40B4-BE49-F238E27FC236}">
                <a16:creationId xmlns:a16="http://schemas.microsoft.com/office/drawing/2014/main" id="{39E13A5B-44DC-4E09-B628-B33E0931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1625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Evidence and inferences remain inspectable.</a:t>
            </a:r>
          </a:p>
        </p:txBody>
      </p:sp>
      <p:sp>
        <p:nvSpPr>
          <p:cNvPr id="16" name="close-three">
            <a:extLst xmlns:a="http://schemas.openxmlformats.org/drawingml/2006/main">
              <a:ext uri="{FF2B5EF4-FFF2-40B4-BE49-F238E27FC236}">
                <a16:creationId xmlns:a16="http://schemas.microsoft.com/office/drawing/2014/main" id="{EEB0B031-7BEB-4EC6-AA2C-5BDA8853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196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 REAL LIFE</a:t>
            </a:r>
          </a:p>
        </p:txBody>
      </p:sp>
      <p:sp>
        <p:nvSpPr>
          <p:cNvPr id="17" name="close-three-copy">
            <a:extLst xmlns:a="http://schemas.openxmlformats.org/drawingml/2006/main">
              <a:ext uri="{FF2B5EF4-FFF2-40B4-BE49-F238E27FC236}">
                <a16:creationId xmlns:a16="http://schemas.microsoft.com/office/drawing/2014/main" id="{FC151AAC-61B0-4877-BE83-CEF2C1A3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625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1"/>
                </a:solidFill>
                <a:latin typeface="Arial"/>
                <a:ea typeface="Arial"/>
                <a:cs typeface="Arial"/>
              </a:rPr>
              <a:t>Success happens outside the product.</a:t>
            </a:r>
          </a:p>
        </p:txBody>
      </p:sp>
    </p:spTree>
    <p:extLst>
      <p:ext uri="{BB962C8B-B14F-4D97-AF65-F5344CB8AC3E}">
        <p14:creationId xmlns:p14="http://schemas.microsoft.com/office/powerpoint/2010/main" val="15107749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2026-08-26T20:29:07.8730000Z</dcterms:created>
  <dcterms:modified xsi:type="dcterms:W3CDTF">2026-08-26T20:29:07.8730000Z</dcterms:modified>
</coreProperties>
</file>